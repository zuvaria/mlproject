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77" r:id="rId10"/>
    <p:sldId id="264" r:id="rId11"/>
    <p:sldId id="265" r:id="rId12"/>
    <p:sldId id="267" r:id="rId13"/>
    <p:sldId id="268" r:id="rId14"/>
    <p:sldId id="269" r:id="rId15"/>
    <p:sldId id="274" r:id="rId16"/>
    <p:sldId id="275" r:id="rId17"/>
    <p:sldId id="27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600" y="4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C3CF1-2F73-AFDF-4989-4AFB0DF3B0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CA7D50-6753-12DD-64F5-A14CFC83E02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9415E20-6E60-B9F7-00A9-DC1A3440D590}"/>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5" name="Footer Placeholder 4">
            <a:extLst>
              <a:ext uri="{FF2B5EF4-FFF2-40B4-BE49-F238E27FC236}">
                <a16:creationId xmlns:a16="http://schemas.microsoft.com/office/drawing/2014/main" id="{57CBEDF2-03A8-C4DA-B10D-36F1E6B7A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17D599-18EB-E2BD-E15C-128F94BECAB6}"/>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1027633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8A03-A1A1-DE6B-AACE-7A7D197AF6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B8A189-CE98-891F-10AA-9A445871FF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0ECCFF-1517-88A0-E8F2-3BAADC6E7D98}"/>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5" name="Footer Placeholder 4">
            <a:extLst>
              <a:ext uri="{FF2B5EF4-FFF2-40B4-BE49-F238E27FC236}">
                <a16:creationId xmlns:a16="http://schemas.microsoft.com/office/drawing/2014/main" id="{71452C15-4F5C-1D55-5A10-BFD6220A8E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67C8071-AF5B-7C9A-957C-41902829EFC5}"/>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1282404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9DD75E-23B1-0380-B792-476CD894C7E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66A0F6-35E6-E299-E568-5B449E8B89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5BE1E4C-B855-E079-8BBB-D49EE444D42D}"/>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5" name="Footer Placeholder 4">
            <a:extLst>
              <a:ext uri="{FF2B5EF4-FFF2-40B4-BE49-F238E27FC236}">
                <a16:creationId xmlns:a16="http://schemas.microsoft.com/office/drawing/2014/main" id="{03FFF47F-B6EF-1F60-B67E-CECE536E68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45010E-DA8D-6DBA-7B82-677E84031F32}"/>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176885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C509E-60EB-4F45-1106-AFCB239693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A9E4CA-DBBF-C5CB-99C3-17066D036F1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344E934-6350-AB25-4B9C-704D6B1F19F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F9780A9-DDE1-DE99-0A5B-F41464790029}"/>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6" name="Footer Placeholder 5">
            <a:extLst>
              <a:ext uri="{FF2B5EF4-FFF2-40B4-BE49-F238E27FC236}">
                <a16:creationId xmlns:a16="http://schemas.microsoft.com/office/drawing/2014/main" id="{884469DB-2F8D-E5BF-0331-6BA8DB14185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77D72E-D079-F46C-269F-C13D006318CE}"/>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5693161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5FAB-D7B6-EA18-2819-309CC2DC0F9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2E5B04A-4B73-91C0-9DCF-D29A1691C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947D096-30DA-E1DF-9735-1437EA6C682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94C3796-CF2C-027C-A84D-A351F94835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DBF7B04-32AC-5160-4C02-433E4359318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CCDB7B-4BEB-3D7D-7FBC-F4F9CAA93725}"/>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8" name="Footer Placeholder 7">
            <a:extLst>
              <a:ext uri="{FF2B5EF4-FFF2-40B4-BE49-F238E27FC236}">
                <a16:creationId xmlns:a16="http://schemas.microsoft.com/office/drawing/2014/main" id="{8E145A57-8DE8-8F51-2FDE-BC04B04BD6F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0C60CBE5-FA6B-EEBD-FDF1-28E0ACE93E8F}"/>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9729419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8AE5C-5674-66C8-62F9-9CD13D2ACD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2E7F30-723D-F789-AA6C-7C7A3F4FA629}"/>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4" name="Footer Placeholder 3">
            <a:extLst>
              <a:ext uri="{FF2B5EF4-FFF2-40B4-BE49-F238E27FC236}">
                <a16:creationId xmlns:a16="http://schemas.microsoft.com/office/drawing/2014/main" id="{6680EC85-4639-8B33-6F71-BCFADD14F5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D831979-D447-BB6A-6185-4AD9AB6EF42E}"/>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5940593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D478BFF-97DA-0C46-F1A8-A4B168620A51}"/>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3" name="Footer Placeholder 2">
            <a:extLst>
              <a:ext uri="{FF2B5EF4-FFF2-40B4-BE49-F238E27FC236}">
                <a16:creationId xmlns:a16="http://schemas.microsoft.com/office/drawing/2014/main" id="{15CD71BA-6053-4430-B938-C099F9237A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A2AF912-8D5D-568D-27A9-84A49ABB60A3}"/>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870845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81700-471D-1BD0-2914-2AB0E9678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252584A-AE16-3214-79A0-10B3E5BE39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25A16A3-44F4-7065-C74C-CF5E00B6CC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AD621B-D66B-C313-7A49-1A4C4164B756}"/>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6" name="Footer Placeholder 5">
            <a:extLst>
              <a:ext uri="{FF2B5EF4-FFF2-40B4-BE49-F238E27FC236}">
                <a16:creationId xmlns:a16="http://schemas.microsoft.com/office/drawing/2014/main" id="{46D2ADC0-6732-CBC1-D61E-8C316FF3A78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4922277-2D9E-E998-5F0C-29371DA028DA}"/>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1393645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005248-5DD7-8C8C-74A4-F6996D889C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D0FE33E-582D-82D2-8081-84D99B01996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BE5A870-3C51-CD2F-2291-8730E20AEC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E832C2E-DBC2-DD67-F951-D113D88F3F63}"/>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6" name="Footer Placeholder 5">
            <a:extLst>
              <a:ext uri="{FF2B5EF4-FFF2-40B4-BE49-F238E27FC236}">
                <a16:creationId xmlns:a16="http://schemas.microsoft.com/office/drawing/2014/main" id="{5C5B5FD2-EB6D-8131-2591-71F797A73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7BE22B-D517-0BEC-0CF4-4405C7DA7ECB}"/>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3863501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29CEF-3C30-1856-85E8-576F085B8FA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E34A65-7162-AB5B-E13E-FCE70248A4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2875ED3-0647-18FF-85E4-1D55F89A4285}"/>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5" name="Footer Placeholder 4">
            <a:extLst>
              <a:ext uri="{FF2B5EF4-FFF2-40B4-BE49-F238E27FC236}">
                <a16:creationId xmlns:a16="http://schemas.microsoft.com/office/drawing/2014/main" id="{8BECE3BC-F842-5659-73BE-B1EFCFEAB4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8A4CF2B-3D29-7B9A-6993-505B1F8538EE}"/>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1700581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0B59A1-B3E9-2AEF-2405-8B6A7841DC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70C48E2-94C3-CBEB-1D5E-30F6B0CC133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87ED94-0078-B773-BB8B-6530A1E11A77}"/>
              </a:ext>
            </a:extLst>
          </p:cNvPr>
          <p:cNvSpPr>
            <a:spLocks noGrp="1"/>
          </p:cNvSpPr>
          <p:nvPr>
            <p:ph type="dt" sz="half" idx="10"/>
          </p:nvPr>
        </p:nvSpPr>
        <p:spPr/>
        <p:txBody>
          <a:bodyPr/>
          <a:lstStyle/>
          <a:p>
            <a:fld id="{4BE901A0-E056-49F1-9E58-1E76867749A4}" type="datetimeFigureOut">
              <a:rPr lang="en-IN" smtClean="0"/>
              <a:t>09-02-2026</a:t>
            </a:fld>
            <a:endParaRPr lang="en-IN"/>
          </a:p>
        </p:txBody>
      </p:sp>
      <p:sp>
        <p:nvSpPr>
          <p:cNvPr id="5" name="Footer Placeholder 4">
            <a:extLst>
              <a:ext uri="{FF2B5EF4-FFF2-40B4-BE49-F238E27FC236}">
                <a16:creationId xmlns:a16="http://schemas.microsoft.com/office/drawing/2014/main" id="{42FB23F7-A87A-B85A-708F-7B793661AF4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1B7C9F-0D29-2EE5-535D-008C23CBAFB0}"/>
              </a:ext>
            </a:extLst>
          </p:cNvPr>
          <p:cNvSpPr>
            <a:spLocks noGrp="1"/>
          </p:cNvSpPr>
          <p:nvPr>
            <p:ph type="sldNum" sz="quarter" idx="12"/>
          </p:nvPr>
        </p:nvSpPr>
        <p:spPr/>
        <p:txBody>
          <a:bodyPr/>
          <a:lstStyle/>
          <a:p>
            <a:fld id="{94EE178D-1369-4C32-A5F7-569194E12761}" type="slidenum">
              <a:rPr lang="en-IN" smtClean="0"/>
              <a:t>‹#›</a:t>
            </a:fld>
            <a:endParaRPr lang="en-IN"/>
          </a:p>
        </p:txBody>
      </p:sp>
    </p:spTree>
    <p:extLst>
      <p:ext uri="{BB962C8B-B14F-4D97-AF65-F5344CB8AC3E}">
        <p14:creationId xmlns:p14="http://schemas.microsoft.com/office/powerpoint/2010/main" val="2932748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E6D41C-A0B6-DC28-B429-715B9A9E04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BECC3A-B594-FEA3-0CDE-C91D0919C0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1A3F8A-6BE3-807E-90A7-AEAE1E1407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E901A0-E056-49F1-9E58-1E76867749A4}" type="datetimeFigureOut">
              <a:rPr lang="en-IN" smtClean="0"/>
              <a:t>09-02-2026</a:t>
            </a:fld>
            <a:endParaRPr lang="en-IN"/>
          </a:p>
        </p:txBody>
      </p:sp>
      <p:sp>
        <p:nvSpPr>
          <p:cNvPr id="5" name="Footer Placeholder 4">
            <a:extLst>
              <a:ext uri="{FF2B5EF4-FFF2-40B4-BE49-F238E27FC236}">
                <a16:creationId xmlns:a16="http://schemas.microsoft.com/office/drawing/2014/main" id="{5C28EAC8-67B4-F646-40AA-4C4A543217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40AC346-B883-60A2-6369-2D2BACE654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EE178D-1369-4C32-A5F7-569194E12761}" type="slidenum">
              <a:rPr lang="en-IN" smtClean="0"/>
              <a:t>‹#›</a:t>
            </a:fld>
            <a:endParaRPr lang="en-IN"/>
          </a:p>
        </p:txBody>
      </p:sp>
    </p:spTree>
    <p:extLst>
      <p:ext uri="{BB962C8B-B14F-4D97-AF65-F5344CB8AC3E}">
        <p14:creationId xmlns:p14="http://schemas.microsoft.com/office/powerpoint/2010/main" val="25984777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C8C63-42EC-E038-7D47-F0B88D0510B1}"/>
              </a:ext>
            </a:extLst>
          </p:cNvPr>
          <p:cNvSpPr>
            <a:spLocks noGrp="1"/>
          </p:cNvSpPr>
          <p:nvPr>
            <p:ph type="ctrTitle"/>
          </p:nvPr>
        </p:nvSpPr>
        <p:spPr>
          <a:xfrm>
            <a:off x="1524000" y="1122363"/>
            <a:ext cx="9144000" cy="1837147"/>
          </a:xfrm>
        </p:spPr>
        <p:txBody>
          <a:bodyPr>
            <a:normAutofit/>
          </a:bodyPr>
          <a:lstStyle/>
          <a:p>
            <a:r>
              <a:rPr lang="en-US" sz="4800" dirty="0"/>
              <a:t>From Random Moves to Optimal Play: Q-Learning in Tic-Tac-Toe</a:t>
            </a:r>
            <a:endParaRPr lang="en-IN" sz="4800" b="1" dirty="0"/>
          </a:p>
        </p:txBody>
      </p:sp>
      <p:sp>
        <p:nvSpPr>
          <p:cNvPr id="3" name="Subtitle 2">
            <a:extLst>
              <a:ext uri="{FF2B5EF4-FFF2-40B4-BE49-F238E27FC236}">
                <a16:creationId xmlns:a16="http://schemas.microsoft.com/office/drawing/2014/main" id="{FE395246-C9B6-21C3-23F8-49BC577D2073}"/>
              </a:ext>
            </a:extLst>
          </p:cNvPr>
          <p:cNvSpPr>
            <a:spLocks noGrp="1"/>
          </p:cNvSpPr>
          <p:nvPr>
            <p:ph type="subTitle" idx="1"/>
          </p:nvPr>
        </p:nvSpPr>
        <p:spPr/>
        <p:txBody>
          <a:bodyPr/>
          <a:lstStyle/>
          <a:p>
            <a:pPr algn="r"/>
            <a:r>
              <a:rPr lang="en-US" dirty="0"/>
              <a:t>			Arshiya </a:t>
            </a:r>
            <a:r>
              <a:rPr lang="en-US" dirty="0" err="1"/>
              <a:t>naaz</a:t>
            </a:r>
            <a:r>
              <a:rPr lang="en-US" dirty="0"/>
              <a:t> (2420080084)</a:t>
            </a:r>
          </a:p>
          <a:p>
            <a:pPr algn="r"/>
            <a:r>
              <a:rPr lang="en-US" dirty="0"/>
              <a:t>Syed </a:t>
            </a:r>
            <a:r>
              <a:rPr lang="en-US" dirty="0" err="1"/>
              <a:t>Zuvaria</a:t>
            </a:r>
            <a:r>
              <a:rPr lang="en-US" dirty="0"/>
              <a:t>(2420080100)</a:t>
            </a:r>
          </a:p>
          <a:p>
            <a:pPr algn="r"/>
            <a:r>
              <a:rPr lang="en-US" dirty="0" err="1"/>
              <a:t>K.Harini</a:t>
            </a:r>
            <a:r>
              <a:rPr lang="en-US" dirty="0"/>
              <a:t> </a:t>
            </a:r>
            <a:r>
              <a:rPr lang="en-US" dirty="0" err="1"/>
              <a:t>priya</a:t>
            </a:r>
            <a:r>
              <a:rPr lang="en-US" dirty="0"/>
              <a:t>(2420080028)</a:t>
            </a:r>
            <a:endParaRPr lang="en-IN" dirty="0"/>
          </a:p>
        </p:txBody>
      </p:sp>
      <p:pic>
        <p:nvPicPr>
          <p:cNvPr id="6" name="Picture 2" descr="MAPS &amp; DIRECTIONS - Best Private University in Telangana &amp; Andhra Pradesh | KLH  Hyderabad">
            <a:extLst>
              <a:ext uri="{FF2B5EF4-FFF2-40B4-BE49-F238E27FC236}">
                <a16:creationId xmlns:a16="http://schemas.microsoft.com/office/drawing/2014/main" id="{DB5B562B-7246-7AFE-CDF4-F4D39658C5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Tic Tac Toe with Reinforcement learning, part I : Markov Decision process —  Value/Policy iteration | by Nour Oulad Moussa | Medium">
            <a:extLst>
              <a:ext uri="{FF2B5EF4-FFF2-40B4-BE49-F238E27FC236}">
                <a16:creationId xmlns:a16="http://schemas.microsoft.com/office/drawing/2014/main" id="{A3DB3165-DD9A-2B1F-B0A8-69A7BE6D68EC}"/>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000"/>
                    </a14:imgEffect>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1157469" y="3080315"/>
            <a:ext cx="2210764" cy="28010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51954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47DB8-EA92-1C11-ECEB-942C4773E9C7}"/>
              </a:ext>
            </a:extLst>
          </p:cNvPr>
          <p:cNvSpPr>
            <a:spLocks noGrp="1"/>
          </p:cNvSpPr>
          <p:nvPr>
            <p:ph type="title"/>
          </p:nvPr>
        </p:nvSpPr>
        <p:spPr/>
        <p:txBody>
          <a:bodyPr/>
          <a:lstStyle/>
          <a:p>
            <a:r>
              <a:rPr lang="en-US" b="1" dirty="0"/>
              <a:t>Table of Contents</a:t>
            </a:r>
            <a:endParaRPr lang="en-IN" b="1" dirty="0"/>
          </a:p>
        </p:txBody>
      </p:sp>
      <p:sp>
        <p:nvSpPr>
          <p:cNvPr id="3" name="Content Placeholder 2">
            <a:extLst>
              <a:ext uri="{FF2B5EF4-FFF2-40B4-BE49-F238E27FC236}">
                <a16:creationId xmlns:a16="http://schemas.microsoft.com/office/drawing/2014/main" id="{D2F483DC-22D6-7CC6-5E3E-C6293674238E}"/>
              </a:ext>
            </a:extLst>
          </p:cNvPr>
          <p:cNvSpPr>
            <a:spLocks noGrp="1"/>
          </p:cNvSpPr>
          <p:nvPr>
            <p:ph idx="1"/>
          </p:nvPr>
        </p:nvSpPr>
        <p:spPr/>
        <p:txBody>
          <a:bodyPr/>
          <a:lstStyle/>
          <a:p>
            <a:r>
              <a:rPr lang="en-US" dirty="0"/>
              <a:t>Introduction</a:t>
            </a:r>
          </a:p>
          <a:p>
            <a:r>
              <a:rPr lang="en-US" dirty="0"/>
              <a:t>Problem Statement/Abstract</a:t>
            </a:r>
          </a:p>
          <a:p>
            <a:r>
              <a:rPr lang="en-US" dirty="0"/>
              <a:t>Literature Survey</a:t>
            </a:r>
          </a:p>
          <a:p>
            <a:r>
              <a:rPr lang="en-US" dirty="0"/>
              <a:t>Datasets Description</a:t>
            </a:r>
          </a:p>
          <a:p>
            <a:r>
              <a:rPr lang="en-US" dirty="0"/>
              <a:t>Methodology</a:t>
            </a:r>
          </a:p>
          <a:p>
            <a:r>
              <a:rPr lang="en-US" dirty="0"/>
              <a:t>Results</a:t>
            </a:r>
          </a:p>
          <a:p>
            <a:r>
              <a:rPr lang="en-US" dirty="0"/>
              <a:t>Visualizations</a:t>
            </a:r>
          </a:p>
          <a:p>
            <a:r>
              <a:rPr lang="en-US" dirty="0"/>
              <a:t>Conclusions</a:t>
            </a:r>
          </a:p>
          <a:p>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7FE4E5F3-B871-A3E7-3CFE-7E0E6B41C7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75957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AAD6C-D513-2C9C-AEF1-CF23FA747D9A}"/>
              </a:ext>
            </a:extLst>
          </p:cNvPr>
          <p:cNvSpPr>
            <a:spLocks noGrp="1"/>
          </p:cNvSpPr>
          <p:nvPr>
            <p:ph type="title"/>
          </p:nvPr>
        </p:nvSpPr>
        <p:spPr/>
        <p:txBody>
          <a:bodyPr/>
          <a:lstStyle/>
          <a:p>
            <a:pPr algn="just"/>
            <a:r>
              <a:rPr lang="en-US" b="1" dirty="0"/>
              <a:t>Introduction</a:t>
            </a:r>
            <a:endParaRPr lang="en-IN" b="1" dirty="0"/>
          </a:p>
        </p:txBody>
      </p:sp>
      <p:sp>
        <p:nvSpPr>
          <p:cNvPr id="3" name="Content Placeholder 2">
            <a:extLst>
              <a:ext uri="{FF2B5EF4-FFF2-40B4-BE49-F238E27FC236}">
                <a16:creationId xmlns:a16="http://schemas.microsoft.com/office/drawing/2014/main" id="{2FC2CBDD-10FA-7E9A-407A-C65003905D81}"/>
              </a:ext>
            </a:extLst>
          </p:cNvPr>
          <p:cNvSpPr>
            <a:spLocks noGrp="1"/>
          </p:cNvSpPr>
          <p:nvPr>
            <p:ph idx="1"/>
          </p:nvPr>
        </p:nvSpPr>
        <p:spPr>
          <a:xfrm>
            <a:off x="838200" y="1825625"/>
            <a:ext cx="10343147" cy="4351338"/>
          </a:xfrm>
        </p:spPr>
        <p:txBody>
          <a:bodyPr>
            <a:normAutofit lnSpcReduction="10000"/>
          </a:bodyPr>
          <a:lstStyle/>
          <a:p>
            <a:r>
              <a:rPr lang="en-US" dirty="0"/>
              <a:t>Artificial Intelligence has significantly advanced in recent years, with Reinforcement Learning (RL) emerging as a powerful technique for decision-making problems. Reinforcement Learning enables an agent to learn optimal behavior through interaction with an environment by receiving rewards or penalties based on its actions. Games provide an ideal testing ground for RL algorithms due to their well-defined rules and measurable outcomes.</a:t>
            </a:r>
          </a:p>
          <a:p>
            <a:r>
              <a:rPr lang="en-US" dirty="0"/>
              <a:t>Tic-Tac-Toe is a simple yet effective environment for demonstrating reinforcement learning concepts. Despite its simplicity, the game requires strategic decision-making, making it suitable for illustrating how an agent learns optimal gameplay through experience rather than predefined rules.</a:t>
            </a:r>
          </a:p>
          <a:p>
            <a:pPr marL="0" indent="0">
              <a:buNone/>
            </a:pPr>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74B81369-83E5-DBBE-03A2-18B4B2010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972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12F94-9809-DD7A-B7CB-8CFCC3CDB284}"/>
              </a:ext>
            </a:extLst>
          </p:cNvPr>
          <p:cNvSpPr>
            <a:spLocks noGrp="1"/>
          </p:cNvSpPr>
          <p:nvPr>
            <p:ph type="title"/>
          </p:nvPr>
        </p:nvSpPr>
        <p:spPr/>
        <p:txBody>
          <a:bodyPr/>
          <a:lstStyle/>
          <a:p>
            <a:r>
              <a:rPr lang="en-US" b="1" dirty="0"/>
              <a:t>Problem Statement</a:t>
            </a:r>
            <a:endParaRPr lang="en-IN" b="1" dirty="0"/>
          </a:p>
        </p:txBody>
      </p:sp>
      <p:sp>
        <p:nvSpPr>
          <p:cNvPr id="3" name="Content Placeholder 2">
            <a:extLst>
              <a:ext uri="{FF2B5EF4-FFF2-40B4-BE49-F238E27FC236}">
                <a16:creationId xmlns:a16="http://schemas.microsoft.com/office/drawing/2014/main" id="{A64A0DCE-0F12-7FD4-900A-FAE65D1841F7}"/>
              </a:ext>
            </a:extLst>
          </p:cNvPr>
          <p:cNvSpPr>
            <a:spLocks noGrp="1"/>
          </p:cNvSpPr>
          <p:nvPr>
            <p:ph idx="1"/>
          </p:nvPr>
        </p:nvSpPr>
        <p:spPr>
          <a:xfrm>
            <a:off x="838200" y="1825625"/>
            <a:ext cx="10515600" cy="3729601"/>
          </a:xfrm>
        </p:spPr>
        <p:txBody>
          <a:bodyPr>
            <a:noAutofit/>
          </a:bodyPr>
          <a:lstStyle/>
          <a:p>
            <a:pPr marL="0" indent="0">
              <a:buNone/>
            </a:pPr>
            <a:r>
              <a:rPr lang="en-US" dirty="0"/>
              <a:t>To design and implement an intelligent Tic-Tac-Toe game agent that learns optimal gameplay strategies using Reinforcement Learning, specifically Q-Learning, through repeated self-play without any hard-coded strategies. Agent creates two winning pathways (forks) while simultaneously maximizing block potential by choosing the board cell with the highest probability-adjusted Q-value. The results show that the agent successfully learns effective strategies and exhibits near-optimal behavior.</a:t>
            </a:r>
          </a:p>
        </p:txBody>
      </p:sp>
      <p:pic>
        <p:nvPicPr>
          <p:cNvPr id="4" name="Picture 2" descr="MAPS &amp; DIRECTIONS - Best Private University in Telangana &amp; Andhra Pradesh | KLH  Hyderabad">
            <a:extLst>
              <a:ext uri="{FF2B5EF4-FFF2-40B4-BE49-F238E27FC236}">
                <a16:creationId xmlns:a16="http://schemas.microsoft.com/office/drawing/2014/main" id="{C9494C51-E043-7423-7B3B-7E5FAA0DD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171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51747-D000-4E01-AF9C-245F8B35E2AE}"/>
              </a:ext>
            </a:extLst>
          </p:cNvPr>
          <p:cNvSpPr>
            <a:spLocks noGrp="1"/>
          </p:cNvSpPr>
          <p:nvPr>
            <p:ph type="title"/>
          </p:nvPr>
        </p:nvSpPr>
        <p:spPr>
          <a:xfrm>
            <a:off x="473371" y="0"/>
            <a:ext cx="10515600" cy="1325563"/>
          </a:xfrm>
        </p:spPr>
        <p:txBody>
          <a:bodyPr/>
          <a:lstStyle/>
          <a:p>
            <a:r>
              <a:rPr lang="en-US" b="1" dirty="0"/>
              <a:t>Literature Survey</a:t>
            </a:r>
            <a:endParaRPr lang="en-IN" b="1" dirty="0"/>
          </a:p>
        </p:txBody>
      </p:sp>
      <p:graphicFrame>
        <p:nvGraphicFramePr>
          <p:cNvPr id="5" name="Content Placeholder 4">
            <a:extLst>
              <a:ext uri="{FF2B5EF4-FFF2-40B4-BE49-F238E27FC236}">
                <a16:creationId xmlns:a16="http://schemas.microsoft.com/office/drawing/2014/main" id="{D83CCBCA-51F3-0E2C-84E0-850832B156F6}"/>
              </a:ext>
            </a:extLst>
          </p:cNvPr>
          <p:cNvGraphicFramePr>
            <a:graphicFrameLocks noGrp="1"/>
          </p:cNvGraphicFramePr>
          <p:nvPr>
            <p:ph idx="1"/>
            <p:extLst>
              <p:ext uri="{D42A27DB-BD31-4B8C-83A1-F6EECF244321}">
                <p14:modId xmlns:p14="http://schemas.microsoft.com/office/powerpoint/2010/main" val="4123128331"/>
              </p:ext>
            </p:extLst>
          </p:nvPr>
        </p:nvGraphicFramePr>
        <p:xfrm>
          <a:off x="176463" y="1474052"/>
          <a:ext cx="11614484" cy="3840480"/>
        </p:xfrm>
        <a:graphic>
          <a:graphicData uri="http://schemas.openxmlformats.org/drawingml/2006/table">
            <a:tbl>
              <a:tblPr firstRow="1" bandRow="1">
                <a:tableStyleId>{5C22544A-7EE6-4342-B048-85BDC9FD1C3A}</a:tableStyleId>
              </a:tblPr>
              <a:tblGrid>
                <a:gridCol w="785943">
                  <a:extLst>
                    <a:ext uri="{9D8B030D-6E8A-4147-A177-3AD203B41FA5}">
                      <a16:colId xmlns:a16="http://schemas.microsoft.com/office/drawing/2014/main" val="1070791183"/>
                    </a:ext>
                  </a:extLst>
                </a:gridCol>
                <a:gridCol w="1987927">
                  <a:extLst>
                    <a:ext uri="{9D8B030D-6E8A-4147-A177-3AD203B41FA5}">
                      <a16:colId xmlns:a16="http://schemas.microsoft.com/office/drawing/2014/main" val="3824803209"/>
                    </a:ext>
                  </a:extLst>
                </a:gridCol>
                <a:gridCol w="1842470">
                  <a:extLst>
                    <a:ext uri="{9D8B030D-6E8A-4147-A177-3AD203B41FA5}">
                      <a16:colId xmlns:a16="http://schemas.microsoft.com/office/drawing/2014/main" val="3202814828"/>
                    </a:ext>
                  </a:extLst>
                </a:gridCol>
                <a:gridCol w="1309122">
                  <a:extLst>
                    <a:ext uri="{9D8B030D-6E8A-4147-A177-3AD203B41FA5}">
                      <a16:colId xmlns:a16="http://schemas.microsoft.com/office/drawing/2014/main" val="3806718490"/>
                    </a:ext>
                  </a:extLst>
                </a:gridCol>
                <a:gridCol w="1943477">
                  <a:extLst>
                    <a:ext uri="{9D8B030D-6E8A-4147-A177-3AD203B41FA5}">
                      <a16:colId xmlns:a16="http://schemas.microsoft.com/office/drawing/2014/main" val="4277574016"/>
                    </a:ext>
                  </a:extLst>
                </a:gridCol>
                <a:gridCol w="3745545">
                  <a:extLst>
                    <a:ext uri="{9D8B030D-6E8A-4147-A177-3AD203B41FA5}">
                      <a16:colId xmlns:a16="http://schemas.microsoft.com/office/drawing/2014/main" val="725002079"/>
                    </a:ext>
                  </a:extLst>
                </a:gridCol>
              </a:tblGrid>
              <a:tr h="618865">
                <a:tc>
                  <a:txBody>
                    <a:bodyPr/>
                    <a:lstStyle/>
                    <a:p>
                      <a:r>
                        <a:rPr lang="en-US" dirty="0"/>
                        <a:t>Sno</a:t>
                      </a:r>
                      <a:endParaRPr lang="en-IN" dirty="0"/>
                    </a:p>
                  </a:txBody>
                  <a:tcPr/>
                </a:tc>
                <a:tc>
                  <a:txBody>
                    <a:bodyPr/>
                    <a:lstStyle/>
                    <a:p>
                      <a:r>
                        <a:rPr lang="en-US" dirty="0"/>
                        <a:t>Title of the Paper</a:t>
                      </a:r>
                      <a:endParaRPr lang="en-IN" dirty="0"/>
                    </a:p>
                  </a:txBody>
                  <a:tcPr/>
                </a:tc>
                <a:tc>
                  <a:txBody>
                    <a:bodyPr/>
                    <a:lstStyle/>
                    <a:p>
                      <a:r>
                        <a:rPr lang="en-US" dirty="0"/>
                        <a:t>Author</a:t>
                      </a:r>
                      <a:endParaRPr lang="en-IN" dirty="0"/>
                    </a:p>
                  </a:txBody>
                  <a:tcPr/>
                </a:tc>
                <a:tc>
                  <a:txBody>
                    <a:bodyPr/>
                    <a:lstStyle/>
                    <a:p>
                      <a:r>
                        <a:rPr lang="en-US" dirty="0"/>
                        <a:t>Year of Publishing</a:t>
                      </a:r>
                      <a:endParaRPr lang="en-IN" dirty="0"/>
                    </a:p>
                  </a:txBody>
                  <a:tcPr/>
                </a:tc>
                <a:tc>
                  <a:txBody>
                    <a:bodyPr/>
                    <a:lstStyle/>
                    <a:p>
                      <a:r>
                        <a:rPr lang="en-US" dirty="0"/>
                        <a:t>Method Used</a:t>
                      </a:r>
                      <a:endParaRPr lang="en-IN" dirty="0"/>
                    </a:p>
                  </a:txBody>
                  <a:tcPr/>
                </a:tc>
                <a:tc>
                  <a:txBody>
                    <a:bodyPr/>
                    <a:lstStyle/>
                    <a:p>
                      <a:r>
                        <a:rPr lang="en-US" dirty="0" err="1"/>
                        <a:t>Limtations</a:t>
                      </a:r>
                      <a:r>
                        <a:rPr lang="en-US" dirty="0"/>
                        <a:t> of this work</a:t>
                      </a:r>
                      <a:endParaRPr lang="en-IN" dirty="0"/>
                    </a:p>
                  </a:txBody>
                  <a:tcPr/>
                </a:tc>
                <a:extLst>
                  <a:ext uri="{0D108BD9-81ED-4DB2-BD59-A6C34878D82A}">
                    <a16:rowId xmlns:a16="http://schemas.microsoft.com/office/drawing/2014/main" val="1982231422"/>
                  </a:ext>
                </a:extLst>
              </a:tr>
              <a:tr h="1414548">
                <a:tc>
                  <a:txBody>
                    <a:bodyPr/>
                    <a:lstStyle/>
                    <a:p>
                      <a:r>
                        <a:rPr lang="en-US" dirty="0"/>
                        <a:t>1</a:t>
                      </a:r>
                      <a:endParaRPr lang="en-IN" dirty="0"/>
                    </a:p>
                  </a:txBody>
                  <a:tcPr/>
                </a:tc>
                <a:tc>
                  <a:txBody>
                    <a:bodyPr/>
                    <a:lstStyle/>
                    <a:p>
                      <a:r>
                        <a:rPr lang="en-US" sz="1800" b="0" i="0" kern="1200" dirty="0">
                          <a:solidFill>
                            <a:schemeClr val="dk1"/>
                          </a:solidFill>
                          <a:effectLst/>
                          <a:latin typeface="+mn-lt"/>
                          <a:ea typeface="+mn-ea"/>
                          <a:cs typeface="+mn-cs"/>
                        </a:rPr>
                        <a:t>Strategic Implementation of AI for Optimal Gameplay in Tic‑Tac‑Toe</a:t>
                      </a:r>
                      <a:endParaRPr lang="en-IN" dirty="0"/>
                    </a:p>
                  </a:txBody>
                  <a:tcPr/>
                </a:tc>
                <a:tc>
                  <a:txBody>
                    <a:bodyPr/>
                    <a:lstStyle/>
                    <a:p>
                      <a:r>
                        <a:rPr lang="en-IN" sz="1800" b="0" i="0" kern="1200" dirty="0">
                          <a:solidFill>
                            <a:schemeClr val="dk1"/>
                          </a:solidFill>
                          <a:effectLst/>
                          <a:latin typeface="+mn-lt"/>
                          <a:ea typeface="+mn-ea"/>
                          <a:cs typeface="+mn-cs"/>
                        </a:rPr>
                        <a:t>Pranjali Bedre, Sanika Chaudhari, Shrushti Jadhav et al</a:t>
                      </a:r>
                    </a:p>
                  </a:txBody>
                  <a:tcPr/>
                </a:tc>
                <a:tc>
                  <a:txBody>
                    <a:bodyPr/>
                    <a:lstStyle/>
                    <a:p>
                      <a:r>
                        <a:rPr lang="en-IN" dirty="0"/>
                        <a:t>20235</a:t>
                      </a:r>
                    </a:p>
                  </a:txBody>
                  <a:tcPr/>
                </a:tc>
                <a:tc>
                  <a:txBody>
                    <a:bodyPr/>
                    <a:lstStyle/>
                    <a:p>
                      <a:r>
                        <a:rPr lang="en-US" sz="1800" b="0" i="0" kern="1200" dirty="0">
                          <a:solidFill>
                            <a:schemeClr val="dk1"/>
                          </a:solidFill>
                          <a:effectLst/>
                          <a:latin typeface="+mn-lt"/>
                          <a:ea typeface="+mn-ea"/>
                          <a:cs typeface="+mn-cs"/>
                        </a:rPr>
                        <a:t>Developed a Python‑based Tic‑Tac‑Toe application with a </a:t>
                      </a:r>
                      <a:r>
                        <a:rPr lang="en-US" sz="1800" b="0" i="0" kern="1200" dirty="0" err="1">
                          <a:solidFill>
                            <a:schemeClr val="dk1"/>
                          </a:solidFill>
                          <a:effectLst/>
                          <a:latin typeface="+mn-lt"/>
                          <a:ea typeface="+mn-ea"/>
                          <a:cs typeface="+mn-cs"/>
                        </a:rPr>
                        <a:t>Tkinter</a:t>
                      </a:r>
                      <a:r>
                        <a:rPr lang="en-US" sz="1800" b="0" i="0" kern="1200" dirty="0">
                          <a:solidFill>
                            <a:schemeClr val="dk1"/>
                          </a:solidFill>
                          <a:effectLst/>
                          <a:latin typeface="+mn-lt"/>
                          <a:ea typeface="+mn-ea"/>
                          <a:cs typeface="+mn-cs"/>
                        </a:rPr>
                        <a:t> GUI. </a:t>
                      </a:r>
                      <a:endParaRPr lang="en-IN" dirty="0"/>
                    </a:p>
                  </a:txBody>
                  <a:tcPr/>
                </a:tc>
                <a:tc>
                  <a:txBody>
                    <a:bodyPr/>
                    <a:lstStyle/>
                    <a:p>
                      <a:r>
                        <a:rPr lang="en-US" sz="1800" b="0" i="0" kern="1200" dirty="0">
                          <a:solidFill>
                            <a:schemeClr val="dk1"/>
                          </a:solidFill>
                          <a:effectLst/>
                          <a:latin typeface="+mn-lt"/>
                          <a:ea typeface="+mn-ea"/>
                          <a:cs typeface="+mn-cs"/>
                        </a:rPr>
                        <a:t>The current version is confined to a single 3×3 board, lacks difficulty‑level settings, score tracking, sound effects, and networked/multiplayer capabilities, </a:t>
                      </a:r>
                      <a:endParaRPr lang="en-IN" dirty="0"/>
                    </a:p>
                  </a:txBody>
                  <a:tcPr/>
                </a:tc>
                <a:extLst>
                  <a:ext uri="{0D108BD9-81ED-4DB2-BD59-A6C34878D82A}">
                    <a16:rowId xmlns:a16="http://schemas.microsoft.com/office/drawing/2014/main" val="1404695643"/>
                  </a:ext>
                </a:extLst>
              </a:tr>
              <a:tr h="1679776">
                <a:tc>
                  <a:txBody>
                    <a:bodyPr/>
                    <a:lstStyle/>
                    <a:p>
                      <a:r>
                        <a:rPr lang="en-US" dirty="0"/>
                        <a:t>2</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Low-Level Learning: A C++ Engine for Foundational AI Techniques</a:t>
                      </a:r>
                      <a:r>
                        <a:rPr lang="en-IN" dirty="0"/>
                        <a:t> </a:t>
                      </a:r>
                    </a:p>
                    <a:p>
                      <a:endParaRPr lang="en-IN" dirty="0"/>
                    </a:p>
                  </a:txBody>
                  <a:tcPr/>
                </a:tc>
                <a:tc>
                  <a:txBody>
                    <a:bodyPr/>
                    <a:lstStyle/>
                    <a:p>
                      <a:r>
                        <a:rPr lang="en-IN" sz="1800" b="0" i="0" kern="1200" dirty="0">
                          <a:solidFill>
                            <a:schemeClr val="dk1"/>
                          </a:solidFill>
                          <a:effectLst/>
                          <a:latin typeface="+mn-lt"/>
                          <a:ea typeface="+mn-ea"/>
                          <a:cs typeface="+mn-cs"/>
                        </a:rPr>
                        <a:t>Nick Brenner, Alex Kozik, Kevin Weng</a:t>
                      </a:r>
                      <a:endParaRPr lang="en-IN" dirty="0"/>
                    </a:p>
                  </a:txBody>
                  <a:tcPr/>
                </a:tc>
                <a:tc>
                  <a:txBody>
                    <a:bodyPr/>
                    <a:lstStyle/>
                    <a:p>
                      <a:r>
                        <a:rPr lang="en-US" dirty="0"/>
                        <a:t>2025</a:t>
                      </a:r>
                      <a:endParaRPr lang="en-IN" dirty="0"/>
                    </a:p>
                  </a:txBody>
                  <a:tcPr/>
                </a:tc>
                <a:tc>
                  <a:txBody>
                    <a:bodyPr/>
                    <a:lstStyle/>
                    <a:p>
                      <a:r>
                        <a:rPr lang="en-US" sz="1800" b="0" i="0" kern="1200" dirty="0">
                          <a:solidFill>
                            <a:schemeClr val="dk1"/>
                          </a:solidFill>
                          <a:effectLst/>
                          <a:latin typeface="+mn-lt"/>
                          <a:ea typeface="+mn-ea"/>
                          <a:cs typeface="+mn-cs"/>
                        </a:rPr>
                        <a:t>The paper presents a low-level AI engine implemented entirely in C++</a:t>
                      </a:r>
                      <a:endParaRPr lang="en-IN" dirty="0"/>
                    </a:p>
                  </a:txBody>
                  <a:tcPr/>
                </a:tc>
                <a:tc>
                  <a:txBody>
                    <a:bodyPr/>
                    <a:lstStyle/>
                    <a:p>
                      <a:r>
                        <a:rPr lang="en-US" sz="1800" b="0" i="0" kern="1200" dirty="0">
                          <a:solidFill>
                            <a:schemeClr val="dk1"/>
                          </a:solidFill>
                          <a:effectLst/>
                          <a:latin typeface="+mn-lt"/>
                          <a:ea typeface="+mn-ea"/>
                          <a:cs typeface="+mn-cs"/>
                        </a:rPr>
                        <a:t>The system is evaluated mostly on small-scale and controlled environments.</a:t>
                      </a:r>
                      <a:endParaRPr lang="en-IN" dirty="0"/>
                    </a:p>
                  </a:txBody>
                  <a:tcPr/>
                </a:tc>
                <a:extLst>
                  <a:ext uri="{0D108BD9-81ED-4DB2-BD59-A6C34878D82A}">
                    <a16:rowId xmlns:a16="http://schemas.microsoft.com/office/drawing/2014/main" val="4013482525"/>
                  </a:ext>
                </a:extLst>
              </a:tr>
            </a:tbl>
          </a:graphicData>
        </a:graphic>
      </p:graphicFrame>
      <p:pic>
        <p:nvPicPr>
          <p:cNvPr id="4" name="Picture 2" descr="MAPS &amp; DIRECTIONS - Best Private University in Telangana &amp; Andhra Pradesh | KLH  Hyderabad">
            <a:extLst>
              <a:ext uri="{FF2B5EF4-FFF2-40B4-BE49-F238E27FC236}">
                <a16:creationId xmlns:a16="http://schemas.microsoft.com/office/drawing/2014/main" id="{69CF1C8B-F2D9-73A4-537C-923FCAC3A3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150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20EFB-1D49-60C2-0DDC-BDAC1D76B927}"/>
            </a:ext>
          </a:extLst>
        </p:cNvPr>
        <p:cNvGrpSpPr/>
        <p:nvPr/>
      </p:nvGrpSpPr>
      <p:grpSpPr>
        <a:xfrm>
          <a:off x="0" y="0"/>
          <a:ext cx="0" cy="0"/>
          <a:chOff x="0" y="0"/>
          <a:chExt cx="0" cy="0"/>
        </a:xfrm>
      </p:grpSpPr>
      <p:pic>
        <p:nvPicPr>
          <p:cNvPr id="4" name="Picture 2" descr="MAPS &amp; DIRECTIONS - Best Private University in Telangana &amp; Andhra Pradesh | KLH  Hyderabad">
            <a:extLst>
              <a:ext uri="{FF2B5EF4-FFF2-40B4-BE49-F238E27FC236}">
                <a16:creationId xmlns:a16="http://schemas.microsoft.com/office/drawing/2014/main" id="{45EF0164-2540-2F6B-3FE3-451E85C8C6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Content Placeholder 4">
            <a:extLst>
              <a:ext uri="{FF2B5EF4-FFF2-40B4-BE49-F238E27FC236}">
                <a16:creationId xmlns:a16="http://schemas.microsoft.com/office/drawing/2014/main" id="{218437E3-26EE-EFAE-4873-1093B42199F9}"/>
              </a:ext>
            </a:extLst>
          </p:cNvPr>
          <p:cNvGraphicFramePr>
            <a:graphicFrameLocks noGrp="1"/>
          </p:cNvGraphicFramePr>
          <p:nvPr>
            <p:ph idx="1"/>
            <p:extLst>
              <p:ext uri="{D42A27DB-BD31-4B8C-83A1-F6EECF244321}">
                <p14:modId xmlns:p14="http://schemas.microsoft.com/office/powerpoint/2010/main" val="456537123"/>
              </p:ext>
            </p:extLst>
          </p:nvPr>
        </p:nvGraphicFramePr>
        <p:xfrm>
          <a:off x="236351" y="1155032"/>
          <a:ext cx="11554595" cy="4816047"/>
        </p:xfrm>
        <a:graphic>
          <a:graphicData uri="http://schemas.openxmlformats.org/drawingml/2006/table">
            <a:tbl>
              <a:tblPr firstRow="1" bandRow="1">
                <a:tableStyleId>{5C22544A-7EE6-4342-B048-85BDC9FD1C3A}</a:tableStyleId>
              </a:tblPr>
              <a:tblGrid>
                <a:gridCol w="612545">
                  <a:extLst>
                    <a:ext uri="{9D8B030D-6E8A-4147-A177-3AD203B41FA5}">
                      <a16:colId xmlns:a16="http://schemas.microsoft.com/office/drawing/2014/main" val="1070791183"/>
                    </a:ext>
                  </a:extLst>
                </a:gridCol>
                <a:gridCol w="2203393">
                  <a:extLst>
                    <a:ext uri="{9D8B030D-6E8A-4147-A177-3AD203B41FA5}">
                      <a16:colId xmlns:a16="http://schemas.microsoft.com/office/drawing/2014/main" val="3824803209"/>
                    </a:ext>
                  </a:extLst>
                </a:gridCol>
                <a:gridCol w="1921359">
                  <a:extLst>
                    <a:ext uri="{9D8B030D-6E8A-4147-A177-3AD203B41FA5}">
                      <a16:colId xmlns:a16="http://schemas.microsoft.com/office/drawing/2014/main" val="3202814828"/>
                    </a:ext>
                  </a:extLst>
                </a:gridCol>
                <a:gridCol w="1850850">
                  <a:extLst>
                    <a:ext uri="{9D8B030D-6E8A-4147-A177-3AD203B41FA5}">
                      <a16:colId xmlns:a16="http://schemas.microsoft.com/office/drawing/2014/main" val="3806718490"/>
                    </a:ext>
                  </a:extLst>
                </a:gridCol>
                <a:gridCol w="2115258">
                  <a:extLst>
                    <a:ext uri="{9D8B030D-6E8A-4147-A177-3AD203B41FA5}">
                      <a16:colId xmlns:a16="http://schemas.microsoft.com/office/drawing/2014/main" val="4277574016"/>
                    </a:ext>
                  </a:extLst>
                </a:gridCol>
                <a:gridCol w="2851190">
                  <a:extLst>
                    <a:ext uri="{9D8B030D-6E8A-4147-A177-3AD203B41FA5}">
                      <a16:colId xmlns:a16="http://schemas.microsoft.com/office/drawing/2014/main" val="725002079"/>
                    </a:ext>
                  </a:extLst>
                </a:gridCol>
              </a:tblGrid>
              <a:tr h="575341">
                <a:tc>
                  <a:txBody>
                    <a:bodyPr/>
                    <a:lstStyle/>
                    <a:p>
                      <a:r>
                        <a:rPr lang="en-US" dirty="0"/>
                        <a:t>Sno</a:t>
                      </a:r>
                      <a:endParaRPr lang="en-IN" dirty="0"/>
                    </a:p>
                  </a:txBody>
                  <a:tcPr/>
                </a:tc>
                <a:tc>
                  <a:txBody>
                    <a:bodyPr/>
                    <a:lstStyle/>
                    <a:p>
                      <a:r>
                        <a:rPr lang="en-US" dirty="0"/>
                        <a:t>Title of the Paper</a:t>
                      </a:r>
                      <a:endParaRPr lang="en-IN" dirty="0"/>
                    </a:p>
                  </a:txBody>
                  <a:tcPr/>
                </a:tc>
                <a:tc>
                  <a:txBody>
                    <a:bodyPr/>
                    <a:lstStyle/>
                    <a:p>
                      <a:r>
                        <a:rPr lang="en-US" dirty="0"/>
                        <a:t>Author</a:t>
                      </a:r>
                      <a:endParaRPr lang="en-IN" dirty="0"/>
                    </a:p>
                  </a:txBody>
                  <a:tcPr/>
                </a:tc>
                <a:tc>
                  <a:txBody>
                    <a:bodyPr/>
                    <a:lstStyle/>
                    <a:p>
                      <a:r>
                        <a:rPr lang="en-US" dirty="0"/>
                        <a:t>Year of Publishing</a:t>
                      </a:r>
                      <a:endParaRPr lang="en-IN" dirty="0"/>
                    </a:p>
                  </a:txBody>
                  <a:tcPr/>
                </a:tc>
                <a:tc>
                  <a:txBody>
                    <a:bodyPr/>
                    <a:lstStyle/>
                    <a:p>
                      <a:r>
                        <a:rPr lang="en-US" dirty="0"/>
                        <a:t>Method Used</a:t>
                      </a:r>
                      <a:endParaRPr lang="en-IN" dirty="0"/>
                    </a:p>
                  </a:txBody>
                  <a:tcPr/>
                </a:tc>
                <a:tc>
                  <a:txBody>
                    <a:bodyPr/>
                    <a:lstStyle/>
                    <a:p>
                      <a:r>
                        <a:rPr lang="en-US" dirty="0" err="1"/>
                        <a:t>Limtations</a:t>
                      </a:r>
                      <a:r>
                        <a:rPr lang="en-US" dirty="0"/>
                        <a:t> of this work</a:t>
                      </a:r>
                      <a:endParaRPr lang="en-IN" dirty="0"/>
                    </a:p>
                  </a:txBody>
                  <a:tcPr/>
                </a:tc>
                <a:extLst>
                  <a:ext uri="{0D108BD9-81ED-4DB2-BD59-A6C34878D82A}">
                    <a16:rowId xmlns:a16="http://schemas.microsoft.com/office/drawing/2014/main" val="1982231422"/>
                  </a:ext>
                </a:extLst>
              </a:tr>
              <a:tr h="1871680">
                <a:tc>
                  <a:txBody>
                    <a:bodyPr/>
                    <a:lstStyle/>
                    <a:p>
                      <a:r>
                        <a:rPr lang="en-US" dirty="0"/>
                        <a:t>3</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mn-lt"/>
                          <a:ea typeface="+mn-ea"/>
                          <a:cs typeface="+mn-cs"/>
                        </a:rPr>
                        <a:t>Real-Time Robotic System for Interactive Tic-Tac-Toe Using Computer Vision.</a:t>
                      </a:r>
                      <a:endParaRPr lang="en-IN" sz="1400" dirty="0"/>
                    </a:p>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i="0" kern="1200" dirty="0">
                          <a:solidFill>
                            <a:schemeClr val="dk1"/>
                          </a:solidFill>
                          <a:effectLst/>
                          <a:latin typeface="+mn-lt"/>
                          <a:ea typeface="+mn-ea"/>
                          <a:cs typeface="+mn-cs"/>
                        </a:rPr>
                        <a:t>Ioan-Alexandru </a:t>
                      </a:r>
                      <a:r>
                        <a:rPr lang="en-IN" sz="1400" b="0" i="0" kern="1200" dirty="0" err="1">
                          <a:solidFill>
                            <a:schemeClr val="dk1"/>
                          </a:solidFill>
                          <a:effectLst/>
                          <a:latin typeface="+mn-lt"/>
                          <a:ea typeface="+mn-ea"/>
                          <a:cs typeface="+mn-cs"/>
                        </a:rPr>
                        <a:t>Spulber</a:t>
                      </a:r>
                      <a:r>
                        <a:rPr lang="en-IN" sz="1400" b="0" i="0" kern="1200" dirty="0">
                          <a:solidFill>
                            <a:schemeClr val="dk1"/>
                          </a:solidFill>
                          <a:effectLst/>
                          <a:latin typeface="+mn-lt"/>
                          <a:ea typeface="+mn-ea"/>
                          <a:cs typeface="+mn-cs"/>
                        </a:rPr>
                        <a:t>, Mihnea Dimitrie Doloiu</a:t>
                      </a:r>
                      <a:endParaRPr lang="en-IN" sz="1400" dirty="0"/>
                    </a:p>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2025</a:t>
                      </a:r>
                      <a:endParaRPr lang="en-IN" sz="1400" dirty="0"/>
                    </a:p>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mn-lt"/>
                          <a:ea typeface="+mn-ea"/>
                          <a:cs typeface="+mn-cs"/>
                        </a:rPr>
                        <a:t>The paper presents the design and implementation of a real-time robotic system capable of playing Tic-Tac-Toe against a human opponent. </a:t>
                      </a:r>
                      <a:endParaRPr lang="en-IN" sz="1400" dirty="0"/>
                    </a:p>
                    <a:p>
                      <a:endParaRPr lang="en-IN" sz="1400" dirty="0"/>
                    </a:p>
                  </a:txBody>
                  <a:tcPr/>
                </a:tc>
                <a:tc>
                  <a:txBody>
                    <a:bodyPr/>
                    <a:lstStyle/>
                    <a:p>
                      <a:r>
                        <a:rPr lang="en-US" sz="1400" b="0" i="0" kern="1200" dirty="0">
                          <a:solidFill>
                            <a:schemeClr val="dk1"/>
                          </a:solidFill>
                          <a:effectLst/>
                          <a:latin typeface="+mn-lt"/>
                          <a:ea typeface="+mn-ea"/>
                          <a:cs typeface="+mn-cs"/>
                        </a:rPr>
                        <a:t>The system detects only circular (‘O’) symbols and does not fully support recognition of ‘X’ symbols.</a:t>
                      </a:r>
                      <a:endParaRPr lang="en-IN" sz="1400" dirty="0"/>
                    </a:p>
                  </a:txBody>
                  <a:tcPr/>
                </a:tc>
                <a:extLst>
                  <a:ext uri="{0D108BD9-81ED-4DB2-BD59-A6C34878D82A}">
                    <a16:rowId xmlns:a16="http://schemas.microsoft.com/office/drawing/2014/main" val="1404695643"/>
                  </a:ext>
                </a:extLst>
              </a:tr>
              <a:tr h="1270069">
                <a:tc>
                  <a:txBody>
                    <a:bodyPr/>
                    <a:lstStyle/>
                    <a:p>
                      <a:r>
                        <a:rPr lang="en-US" dirty="0"/>
                        <a:t>4</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mn-lt"/>
                          <a:ea typeface="+mn-ea"/>
                          <a:cs typeface="+mn-cs"/>
                        </a:rPr>
                        <a:t>Real-Time Robotic System for Interactive Tic-Tac-Toe Using Computer Vision.</a:t>
                      </a:r>
                      <a:endParaRPr lang="en-IN" sz="1400" dirty="0"/>
                    </a:p>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i="0" kern="1200" dirty="0">
                          <a:solidFill>
                            <a:schemeClr val="dk1"/>
                          </a:solidFill>
                          <a:effectLst/>
                          <a:latin typeface="+mn-lt"/>
                          <a:ea typeface="+mn-ea"/>
                          <a:cs typeface="+mn-cs"/>
                        </a:rPr>
                        <a:t>Ioan-Alexandru </a:t>
                      </a:r>
                      <a:r>
                        <a:rPr lang="en-IN" sz="1400" b="0" i="0" kern="1200" dirty="0" err="1">
                          <a:solidFill>
                            <a:schemeClr val="dk1"/>
                          </a:solidFill>
                          <a:effectLst/>
                          <a:latin typeface="+mn-lt"/>
                          <a:ea typeface="+mn-ea"/>
                          <a:cs typeface="+mn-cs"/>
                        </a:rPr>
                        <a:t>Spulber</a:t>
                      </a:r>
                      <a:r>
                        <a:rPr lang="en-IN" sz="1400" b="0" i="0" kern="1200" dirty="0">
                          <a:solidFill>
                            <a:schemeClr val="dk1"/>
                          </a:solidFill>
                          <a:effectLst/>
                          <a:latin typeface="+mn-lt"/>
                          <a:ea typeface="+mn-ea"/>
                          <a:cs typeface="+mn-cs"/>
                        </a:rPr>
                        <a:t>,</a:t>
                      </a:r>
                      <a:endParaRPr lang="en-IN" sz="1400" dirty="0"/>
                    </a:p>
                    <a:p>
                      <a:endParaRPr lang="en-IN" sz="1400" dirty="0"/>
                    </a:p>
                  </a:txBody>
                  <a:tcPr/>
                </a:tc>
                <a:tc>
                  <a:txBody>
                    <a:bodyPr/>
                    <a:lstStyle/>
                    <a:p>
                      <a:r>
                        <a:rPr lang="en-US" sz="1400" dirty="0"/>
                        <a:t>2025</a:t>
                      </a:r>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mn-lt"/>
                          <a:ea typeface="+mn-ea"/>
                          <a:cs typeface="+mn-cs"/>
                        </a:rPr>
                        <a:t>The paper presents a real-time robotic Tic-Tac-Toe system using an XY plotter</a:t>
                      </a:r>
                      <a:endParaRPr lang="en-IN" sz="1400" dirty="0"/>
                    </a:p>
                    <a:p>
                      <a:endParaRPr lang="en-IN" sz="14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kern="1200" dirty="0">
                          <a:solidFill>
                            <a:schemeClr val="dk1"/>
                          </a:solidFill>
                          <a:effectLst/>
                          <a:latin typeface="+mn-lt"/>
                          <a:ea typeface="+mn-ea"/>
                          <a:cs typeface="+mn-cs"/>
                        </a:rPr>
                        <a:t>The system detects only one symbol type, lacks learning or adaptability</a:t>
                      </a:r>
                      <a:endParaRPr lang="en-IN" sz="1400" dirty="0"/>
                    </a:p>
                    <a:p>
                      <a:endParaRPr lang="en-IN" sz="1400" dirty="0"/>
                    </a:p>
                  </a:txBody>
                  <a:tcPr/>
                </a:tc>
                <a:extLst>
                  <a:ext uri="{0D108BD9-81ED-4DB2-BD59-A6C34878D82A}">
                    <a16:rowId xmlns:a16="http://schemas.microsoft.com/office/drawing/2014/main" val="4013482525"/>
                  </a:ext>
                </a:extLst>
              </a:tr>
              <a:tr h="668458">
                <a:tc>
                  <a:txBody>
                    <a:bodyPr/>
                    <a:lstStyle/>
                    <a:p>
                      <a:r>
                        <a:rPr lang="en-US" dirty="0"/>
                        <a:t>5</a:t>
                      </a:r>
                      <a:endParaRPr lang="en-IN" dirty="0"/>
                    </a:p>
                  </a:txBody>
                  <a:tcPr/>
                </a:tc>
                <a:tc>
                  <a:txBody>
                    <a:bodyPr/>
                    <a:lstStyle/>
                    <a:p>
                      <a:pPr>
                        <a:buNone/>
                      </a:pPr>
                      <a:r>
                        <a:rPr lang="en-US" sz="1400" dirty="0"/>
                        <a:t>Learning from Delayed Rewards – Watkins</a:t>
                      </a:r>
                    </a:p>
                  </a:txBody>
                  <a:tcPr anchor="ctr"/>
                </a:tc>
                <a:tc>
                  <a:txBody>
                    <a:bodyPr/>
                    <a:lstStyle/>
                    <a:p>
                      <a:r>
                        <a:rPr lang="en-US" sz="1400" dirty="0"/>
                        <a:t>Watkins</a:t>
                      </a:r>
                      <a:endParaRPr lang="en-IN" sz="1400" dirty="0"/>
                    </a:p>
                  </a:txBody>
                  <a:tcPr/>
                </a:tc>
                <a:tc>
                  <a:txBody>
                    <a:bodyPr/>
                    <a:lstStyle/>
                    <a:p>
                      <a:r>
                        <a:rPr lang="en-IN" sz="1400" dirty="0"/>
                        <a:t>1989</a:t>
                      </a:r>
                    </a:p>
                  </a:txBody>
                  <a:tcPr/>
                </a:tc>
                <a:tc>
                  <a:txBody>
                    <a:bodyPr/>
                    <a:lstStyle/>
                    <a:p>
                      <a:r>
                        <a:rPr lang="en-IN" sz="1400" dirty="0"/>
                        <a:t>Q-Learning</a:t>
                      </a:r>
                    </a:p>
                  </a:txBody>
                  <a:tcPr/>
                </a:tc>
                <a:tc>
                  <a:txBody>
                    <a:bodyPr/>
                    <a:lstStyle/>
                    <a:p>
                      <a:r>
                        <a:rPr lang="en-US" sz="1400" dirty="0"/>
                        <a:t>Slow convergence for large state spaces</a:t>
                      </a:r>
                      <a:endParaRPr lang="en-IN" sz="1400" dirty="0"/>
                    </a:p>
                  </a:txBody>
                  <a:tcPr/>
                </a:tc>
                <a:extLst>
                  <a:ext uri="{0D108BD9-81ED-4DB2-BD59-A6C34878D82A}">
                    <a16:rowId xmlns:a16="http://schemas.microsoft.com/office/drawing/2014/main" val="3428984819"/>
                  </a:ext>
                </a:extLst>
              </a:tr>
              <a:tr h="342795">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907294955"/>
                  </a:ext>
                </a:extLst>
              </a:tr>
            </a:tbl>
          </a:graphicData>
        </a:graphic>
      </p:graphicFrame>
    </p:spTree>
    <p:extLst>
      <p:ext uri="{BB962C8B-B14F-4D97-AF65-F5344CB8AC3E}">
        <p14:creationId xmlns:p14="http://schemas.microsoft.com/office/powerpoint/2010/main" val="2937361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04782-4B33-67C0-C34B-0EF037EAEA1B}"/>
              </a:ext>
            </a:extLst>
          </p:cNvPr>
          <p:cNvSpPr>
            <a:spLocks noGrp="1"/>
          </p:cNvSpPr>
          <p:nvPr>
            <p:ph type="title"/>
          </p:nvPr>
        </p:nvSpPr>
        <p:spPr/>
        <p:txBody>
          <a:bodyPr/>
          <a:lstStyle/>
          <a:p>
            <a:r>
              <a:rPr lang="en-US" b="1" dirty="0"/>
              <a:t>Dataset/s Description</a:t>
            </a:r>
            <a:endParaRPr lang="en-IN" b="1" dirty="0"/>
          </a:p>
        </p:txBody>
      </p:sp>
      <p:sp>
        <p:nvSpPr>
          <p:cNvPr id="3" name="Content Placeholder 2">
            <a:extLst>
              <a:ext uri="{FF2B5EF4-FFF2-40B4-BE49-F238E27FC236}">
                <a16:creationId xmlns:a16="http://schemas.microsoft.com/office/drawing/2014/main" id="{51CD8276-F9E2-D6BE-583A-ED6400DF5B00}"/>
              </a:ext>
            </a:extLst>
          </p:cNvPr>
          <p:cNvSpPr>
            <a:spLocks noGrp="1"/>
          </p:cNvSpPr>
          <p:nvPr>
            <p:ph idx="1"/>
          </p:nvPr>
        </p:nvSpPr>
        <p:spPr>
          <a:xfrm>
            <a:off x="838200" y="1783636"/>
            <a:ext cx="10311063" cy="3891297"/>
          </a:xfrm>
        </p:spPr>
        <p:txBody>
          <a:bodyPr>
            <a:noAutofit/>
          </a:bodyPr>
          <a:lstStyle/>
          <a:p>
            <a:r>
              <a:rPr lang="en-US" sz="1800" dirty="0"/>
              <a:t>This project does not use a traditional dataset. Instead, data is generated dynamically through gameplay interactions.</a:t>
            </a:r>
          </a:p>
          <a:p>
            <a:r>
              <a:rPr lang="en-US" sz="1800" b="1" dirty="0"/>
              <a:t>Attributes</a:t>
            </a:r>
          </a:p>
          <a:p>
            <a:r>
              <a:rPr lang="en-US" sz="1800" b="1" dirty="0"/>
              <a:t>State:</a:t>
            </a:r>
            <a:r>
              <a:rPr lang="en-US" sz="1800" dirty="0"/>
              <a:t> Current configuration of the 3×3 Tic-Tac-Toe board</a:t>
            </a:r>
          </a:p>
          <a:p>
            <a:r>
              <a:rPr lang="en-US" sz="1800" b="1" dirty="0"/>
              <a:t>Action:</a:t>
            </a:r>
            <a:r>
              <a:rPr lang="en-US" sz="1800" dirty="0"/>
              <a:t> Placement of a mark in an empty cell</a:t>
            </a:r>
          </a:p>
          <a:p>
            <a:r>
              <a:rPr lang="en-US" sz="1800" b="1" dirty="0"/>
              <a:t>Reward:</a:t>
            </a:r>
            <a:endParaRPr lang="en-US" sz="1800" dirty="0"/>
          </a:p>
          <a:p>
            <a:pPr lvl="1"/>
            <a:r>
              <a:rPr lang="en-US" sz="1800" dirty="0"/>
              <a:t>Win: +1</a:t>
            </a:r>
          </a:p>
          <a:p>
            <a:pPr lvl="1"/>
            <a:r>
              <a:rPr lang="en-US" sz="1800" dirty="0"/>
              <a:t>Loss: −1</a:t>
            </a:r>
          </a:p>
          <a:p>
            <a:pPr lvl="1"/>
            <a:r>
              <a:rPr lang="en-US" sz="1800" dirty="0"/>
              <a:t>Draw: 0</a:t>
            </a:r>
          </a:p>
          <a:p>
            <a:r>
              <a:rPr lang="en-US" sz="1800" dirty="0"/>
              <a:t>Each game episode contributes to the learning process by updating Q-values based on outcomes.</a:t>
            </a:r>
          </a:p>
          <a:p>
            <a:pPr marL="0" indent="0">
              <a:buNone/>
            </a:pPr>
            <a:endParaRPr lang="en-US" sz="1800" dirty="0"/>
          </a:p>
        </p:txBody>
      </p:sp>
      <p:pic>
        <p:nvPicPr>
          <p:cNvPr id="4" name="Picture 2" descr="MAPS &amp; DIRECTIONS - Best Private University in Telangana &amp; Andhra Pradesh | KLH  Hyderabad">
            <a:extLst>
              <a:ext uri="{FF2B5EF4-FFF2-40B4-BE49-F238E27FC236}">
                <a16:creationId xmlns:a16="http://schemas.microsoft.com/office/drawing/2014/main" id="{BD169822-8ACE-0A8D-E365-54C4C07C1A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0692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C621-2513-8129-6BC0-C92318720A13}"/>
              </a:ext>
            </a:extLst>
          </p:cNvPr>
          <p:cNvSpPr>
            <a:spLocks noGrp="1"/>
          </p:cNvSpPr>
          <p:nvPr>
            <p:ph type="title"/>
          </p:nvPr>
        </p:nvSpPr>
        <p:spPr>
          <a:xfrm>
            <a:off x="838200" y="365125"/>
            <a:ext cx="10515600" cy="991727"/>
          </a:xfrm>
        </p:spPr>
        <p:txBody>
          <a:bodyPr/>
          <a:lstStyle/>
          <a:p>
            <a:r>
              <a:rPr lang="en-US" b="1" dirty="0"/>
              <a:t>Methodology</a:t>
            </a:r>
            <a:endParaRPr lang="en-IN" b="1" dirty="0"/>
          </a:p>
        </p:txBody>
      </p:sp>
      <p:sp>
        <p:nvSpPr>
          <p:cNvPr id="3" name="Content Placeholder 2">
            <a:extLst>
              <a:ext uri="{FF2B5EF4-FFF2-40B4-BE49-F238E27FC236}">
                <a16:creationId xmlns:a16="http://schemas.microsoft.com/office/drawing/2014/main" id="{A1585BC8-8262-FE8C-650A-135BF9061AAE}"/>
              </a:ext>
            </a:extLst>
          </p:cNvPr>
          <p:cNvSpPr>
            <a:spLocks noGrp="1"/>
          </p:cNvSpPr>
          <p:nvPr>
            <p:ph idx="1"/>
          </p:nvPr>
        </p:nvSpPr>
        <p:spPr>
          <a:xfrm>
            <a:off x="722181" y="1356852"/>
            <a:ext cx="10515600" cy="4081422"/>
          </a:xfrm>
        </p:spPr>
        <p:txBody>
          <a:bodyPr>
            <a:noAutofit/>
          </a:bodyPr>
          <a:lstStyle/>
          <a:p>
            <a:pPr marL="0" indent="0">
              <a:buNone/>
            </a:pPr>
            <a:r>
              <a:rPr lang="en-US" sz="2000" dirty="0"/>
              <a:t>The system follows a Reinforcement Learning approach using Q-Learning.</a:t>
            </a:r>
          </a:p>
          <a:p>
            <a:r>
              <a:rPr lang="en-US" sz="2000" b="1" dirty="0"/>
              <a:t>Steps Involved</a:t>
            </a:r>
          </a:p>
          <a:p>
            <a:r>
              <a:rPr lang="en-US" sz="2000" dirty="0"/>
              <a:t>Initialize Q-table with zero values</a:t>
            </a:r>
          </a:p>
          <a:p>
            <a:r>
              <a:rPr lang="en-US" sz="2000" dirty="0"/>
              <a:t>Start a new game episode</a:t>
            </a:r>
          </a:p>
          <a:p>
            <a:r>
              <a:rPr lang="en-US" sz="2000" dirty="0"/>
              <a:t>Select an action using ε-greedy policy</a:t>
            </a:r>
          </a:p>
          <a:p>
            <a:r>
              <a:rPr lang="en-US" sz="2000" dirty="0"/>
              <a:t>Perform the action and update the board</a:t>
            </a:r>
          </a:p>
          <a:p>
            <a:r>
              <a:rPr lang="en-US" sz="2000" dirty="0"/>
              <a:t>Receive reward based on game outcome</a:t>
            </a:r>
          </a:p>
          <a:p>
            <a:r>
              <a:rPr lang="en-US" sz="2000" dirty="0"/>
              <a:t>Update Q-values using the Q-Learning update rule</a:t>
            </a:r>
          </a:p>
          <a:p>
            <a:r>
              <a:rPr lang="en-US" sz="2000" dirty="0"/>
              <a:t>Repeat for multiple episodes</a:t>
            </a:r>
          </a:p>
          <a:p>
            <a:pPr marL="0" indent="0">
              <a:buNone/>
            </a:pPr>
            <a:endParaRPr lang="en-US" sz="2000" dirty="0"/>
          </a:p>
          <a:p>
            <a:pPr marL="0" indent="0">
              <a:buNone/>
            </a:pPr>
            <a:endParaRPr lang="en-IN" sz="2000" dirty="0"/>
          </a:p>
        </p:txBody>
      </p:sp>
      <p:pic>
        <p:nvPicPr>
          <p:cNvPr id="4" name="Picture 2" descr="MAPS &amp; DIRECTIONS - Best Private University in Telangana &amp; Andhra Pradesh | KLH  Hyderabad">
            <a:extLst>
              <a:ext uri="{FF2B5EF4-FFF2-40B4-BE49-F238E27FC236}">
                <a16:creationId xmlns:a16="http://schemas.microsoft.com/office/drawing/2014/main" id="{C912CFD1-19F9-57DE-E49F-BFBB2DC054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601BF48-03BF-C8E7-4D83-2C53DBEF9B52}"/>
              </a:ext>
            </a:extLst>
          </p:cNvPr>
          <p:cNvPicPr>
            <a:picLocks noChangeAspect="1"/>
          </p:cNvPicPr>
          <p:nvPr/>
        </p:nvPicPr>
        <p:blipFill>
          <a:blip r:embed="rId3"/>
          <a:stretch>
            <a:fillRect/>
          </a:stretch>
        </p:blipFill>
        <p:spPr>
          <a:xfrm>
            <a:off x="1687147" y="5088619"/>
            <a:ext cx="7630590" cy="1409897"/>
          </a:xfrm>
          <a:prstGeom prst="rect">
            <a:avLst/>
          </a:prstGeom>
        </p:spPr>
      </p:pic>
      <p:pic>
        <p:nvPicPr>
          <p:cNvPr id="7" name="Picture 6">
            <a:extLst>
              <a:ext uri="{FF2B5EF4-FFF2-40B4-BE49-F238E27FC236}">
                <a16:creationId xmlns:a16="http://schemas.microsoft.com/office/drawing/2014/main" id="{E75CF54C-0EEA-C173-F67B-4D6564ADD13C}"/>
              </a:ext>
            </a:extLst>
          </p:cNvPr>
          <p:cNvPicPr>
            <a:picLocks noChangeAspect="1"/>
          </p:cNvPicPr>
          <p:nvPr/>
        </p:nvPicPr>
        <p:blipFill>
          <a:blip r:embed="rId4"/>
          <a:stretch>
            <a:fillRect/>
          </a:stretch>
        </p:blipFill>
        <p:spPr>
          <a:xfrm>
            <a:off x="7535718" y="1897803"/>
            <a:ext cx="3564038" cy="2649865"/>
          </a:xfrm>
          <a:prstGeom prst="rect">
            <a:avLst/>
          </a:prstGeom>
        </p:spPr>
      </p:pic>
    </p:spTree>
    <p:extLst>
      <p:ext uri="{BB962C8B-B14F-4D97-AF65-F5344CB8AC3E}">
        <p14:creationId xmlns:p14="http://schemas.microsoft.com/office/powerpoint/2010/main" val="4205603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MAPS &amp; DIRECTIONS - Best Private University in Telangana &amp; Andhra Pradesh | KLH  Hyderabad">
            <a:extLst>
              <a:ext uri="{FF2B5EF4-FFF2-40B4-BE49-F238E27FC236}">
                <a16:creationId xmlns:a16="http://schemas.microsoft.com/office/drawing/2014/main" id="{A5DA5B55-E5C9-616E-264A-8464D90E70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7DB1CAF-A65B-845D-C6B2-00D778D92DC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2339" y="576072"/>
            <a:ext cx="7396223" cy="5986774"/>
          </a:xfrm>
          <a:prstGeom prst="rect">
            <a:avLst/>
          </a:prstGeom>
        </p:spPr>
      </p:pic>
    </p:spTree>
    <p:extLst>
      <p:ext uri="{BB962C8B-B14F-4D97-AF65-F5344CB8AC3E}">
        <p14:creationId xmlns:p14="http://schemas.microsoft.com/office/powerpoint/2010/main" val="18464490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30F7B-1334-20B0-3B25-E10072D57447}"/>
              </a:ext>
            </a:extLst>
          </p:cNvPr>
          <p:cNvSpPr>
            <a:spLocks noGrp="1"/>
          </p:cNvSpPr>
          <p:nvPr>
            <p:ph type="title"/>
          </p:nvPr>
        </p:nvSpPr>
        <p:spPr/>
        <p:txBody>
          <a:bodyPr/>
          <a:lstStyle/>
          <a:p>
            <a:r>
              <a:rPr lang="en-US" b="1" dirty="0"/>
              <a:t>Results and Discussions</a:t>
            </a:r>
            <a:endParaRPr lang="en-IN" b="1" dirty="0"/>
          </a:p>
        </p:txBody>
      </p:sp>
      <p:sp>
        <p:nvSpPr>
          <p:cNvPr id="3" name="Content Placeholder 2">
            <a:extLst>
              <a:ext uri="{FF2B5EF4-FFF2-40B4-BE49-F238E27FC236}">
                <a16:creationId xmlns:a16="http://schemas.microsoft.com/office/drawing/2014/main" id="{2DE7FDA4-819E-0C56-BD03-AB96BF312261}"/>
              </a:ext>
            </a:extLst>
          </p:cNvPr>
          <p:cNvSpPr>
            <a:spLocks noGrp="1"/>
          </p:cNvSpPr>
          <p:nvPr>
            <p:ph idx="1"/>
          </p:nvPr>
        </p:nvSpPr>
        <p:spPr>
          <a:xfrm>
            <a:off x="838200" y="1456657"/>
            <a:ext cx="10515600" cy="4351338"/>
          </a:xfrm>
        </p:spPr>
        <p:txBody>
          <a:bodyPr/>
          <a:lstStyle/>
          <a:p>
            <a:pPr marL="0" indent="0">
              <a:buNone/>
            </a:pPr>
            <a:r>
              <a:rPr lang="en-US" dirty="0"/>
              <a:t>After training over thousands of episodes:</a:t>
            </a:r>
          </a:p>
          <a:p>
            <a:r>
              <a:rPr lang="en-US" dirty="0"/>
              <a:t>The agent learned to prefer center and corner positions</a:t>
            </a:r>
          </a:p>
          <a:p>
            <a:r>
              <a:rPr lang="en-US" dirty="0"/>
              <a:t>Win rate significantly improved over time</a:t>
            </a:r>
          </a:p>
          <a:p>
            <a:r>
              <a:rPr lang="en-US" dirty="0"/>
              <a:t>Loss rate decreased drastically</a:t>
            </a:r>
          </a:p>
          <a:p>
            <a:r>
              <a:rPr lang="en-US" dirty="0"/>
              <a:t>Majority of games ended in wins or draws against random opponents</a:t>
            </a:r>
          </a:p>
          <a:p>
            <a:r>
              <a:rPr lang="en-US" dirty="0"/>
              <a:t>The trained agent demonstrates intelligent behavior without any predefined strategies.</a:t>
            </a:r>
          </a:p>
          <a:p>
            <a:pPr marL="0" indent="0">
              <a:buNone/>
            </a:pPr>
            <a:endParaRPr lang="en-US" dirty="0"/>
          </a:p>
        </p:txBody>
      </p:sp>
      <p:pic>
        <p:nvPicPr>
          <p:cNvPr id="4" name="Picture 2" descr="MAPS &amp; DIRECTIONS - Best Private University in Telangana &amp; Andhra Pradesh | KLH  Hyderabad">
            <a:extLst>
              <a:ext uri="{FF2B5EF4-FFF2-40B4-BE49-F238E27FC236}">
                <a16:creationId xmlns:a16="http://schemas.microsoft.com/office/drawing/2014/main" id="{F64FBAE5-C455-1AAE-C1CA-BD383C9D9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2330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40E56-EF2B-61C6-BCCB-4E95F9AC90BE}"/>
              </a:ext>
            </a:extLst>
          </p:cNvPr>
          <p:cNvSpPr>
            <a:spLocks noGrp="1"/>
          </p:cNvSpPr>
          <p:nvPr>
            <p:ph type="title"/>
          </p:nvPr>
        </p:nvSpPr>
        <p:spPr/>
        <p:txBody>
          <a:bodyPr/>
          <a:lstStyle/>
          <a:p>
            <a:r>
              <a:rPr lang="en-US" b="1" dirty="0"/>
              <a:t>Visualizations</a:t>
            </a:r>
            <a:endParaRPr lang="en-IN" b="1" dirty="0"/>
          </a:p>
        </p:txBody>
      </p:sp>
      <p:sp>
        <p:nvSpPr>
          <p:cNvPr id="3" name="Content Placeholder 2">
            <a:extLst>
              <a:ext uri="{FF2B5EF4-FFF2-40B4-BE49-F238E27FC236}">
                <a16:creationId xmlns:a16="http://schemas.microsoft.com/office/drawing/2014/main" id="{46B0944D-CA21-5058-0B20-1EEAEDBD072A}"/>
              </a:ext>
            </a:extLst>
          </p:cNvPr>
          <p:cNvSpPr>
            <a:spLocks noGrp="1"/>
          </p:cNvSpPr>
          <p:nvPr>
            <p:ph idx="1"/>
          </p:nvPr>
        </p:nvSpPr>
        <p:spPr>
          <a:xfrm>
            <a:off x="838199" y="1825624"/>
            <a:ext cx="10647947" cy="4511007"/>
          </a:xfrm>
        </p:spPr>
        <p:txBody>
          <a:bodyPr/>
          <a:lstStyle/>
          <a:p>
            <a:pPr marL="0" indent="0">
              <a:buNone/>
            </a:pPr>
            <a:r>
              <a:rPr lang="en-US" b="1" dirty="0"/>
              <a:t> Heat Map</a:t>
            </a:r>
          </a:p>
          <a:p>
            <a:r>
              <a:rPr lang="en-US" dirty="0"/>
              <a:t>A heat map was generated to visualize the frequency of moves made by the agent. It shows:</a:t>
            </a:r>
          </a:p>
          <a:p>
            <a:r>
              <a:rPr lang="en-US" dirty="0"/>
              <a:t>Highest preference for the center cell</a:t>
            </a:r>
          </a:p>
          <a:p>
            <a:r>
              <a:rPr lang="en-US" dirty="0"/>
              <a:t>Secondary preference for corner cells</a:t>
            </a:r>
          </a:p>
          <a:p>
            <a:r>
              <a:rPr lang="en-US" dirty="0"/>
              <a:t>Least preference for edge cells</a:t>
            </a:r>
          </a:p>
          <a:p>
            <a:pPr marL="0" indent="0">
              <a:buNone/>
            </a:pPr>
            <a:r>
              <a:rPr lang="en-US" b="1" dirty="0"/>
              <a:t> Gameplay Interface</a:t>
            </a:r>
          </a:p>
          <a:p>
            <a:r>
              <a:rPr lang="en-US" dirty="0"/>
              <a:t>An interactive web interface was developed using HTML, CSS, and JavaScript to demonstrate gameplay between a human and the AI.</a:t>
            </a:r>
          </a:p>
          <a:p>
            <a:pPr marL="0" indent="0">
              <a:buNone/>
            </a:pPr>
            <a:endParaRPr lang="en-IN" dirty="0"/>
          </a:p>
        </p:txBody>
      </p:sp>
      <p:pic>
        <p:nvPicPr>
          <p:cNvPr id="6" name="Picture 2" descr="MAPS &amp; DIRECTIONS - Best Private University in Telangana &amp; Andhra Pradesh | KLH  Hyderabad">
            <a:extLst>
              <a:ext uri="{FF2B5EF4-FFF2-40B4-BE49-F238E27FC236}">
                <a16:creationId xmlns:a16="http://schemas.microsoft.com/office/drawing/2014/main" id="{6FD1BCDF-5F19-E577-5CF5-5D6189956F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424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06C2D-9C0B-0ED3-7077-683BB28791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05B52-F262-97D1-A115-5E3AE1FFF002}"/>
              </a:ext>
            </a:extLst>
          </p:cNvPr>
          <p:cNvSpPr>
            <a:spLocks noGrp="1"/>
          </p:cNvSpPr>
          <p:nvPr>
            <p:ph type="title"/>
          </p:nvPr>
        </p:nvSpPr>
        <p:spPr>
          <a:xfrm>
            <a:off x="631723" y="18255"/>
            <a:ext cx="10515600" cy="1325563"/>
          </a:xfrm>
        </p:spPr>
        <p:txBody>
          <a:bodyPr/>
          <a:lstStyle/>
          <a:p>
            <a:r>
              <a:rPr lang="en-US" b="1" dirty="0"/>
              <a:t>Visualizations</a:t>
            </a:r>
            <a:endParaRPr lang="en-IN" b="1" dirty="0"/>
          </a:p>
        </p:txBody>
      </p:sp>
      <p:sp>
        <p:nvSpPr>
          <p:cNvPr id="3" name="Content Placeholder 2">
            <a:extLst>
              <a:ext uri="{FF2B5EF4-FFF2-40B4-BE49-F238E27FC236}">
                <a16:creationId xmlns:a16="http://schemas.microsoft.com/office/drawing/2014/main" id="{94AE04DD-F064-4353-5146-47FD45424967}"/>
              </a:ext>
            </a:extLst>
          </p:cNvPr>
          <p:cNvSpPr>
            <a:spLocks noGrp="1"/>
          </p:cNvSpPr>
          <p:nvPr>
            <p:ph idx="1"/>
          </p:nvPr>
        </p:nvSpPr>
        <p:spPr/>
        <p:txBody>
          <a:bodyPr/>
          <a:lstStyle/>
          <a:p>
            <a:pPr marL="0" indent="0">
              <a:buNone/>
            </a:pPr>
            <a:r>
              <a:rPr lang="en-US" dirty="0"/>
              <a:t> </a:t>
            </a:r>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80E852E4-E543-E110-3315-7393839672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A91DF5E9-78BC-2349-4A4E-00964675FA1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06972" y="862524"/>
            <a:ext cx="3395828" cy="2868459"/>
          </a:xfrm>
          <a:prstGeom prst="rect">
            <a:avLst/>
          </a:prstGeom>
          <a:noFill/>
          <a:ln>
            <a:noFill/>
          </a:ln>
        </p:spPr>
      </p:pic>
      <p:pic>
        <p:nvPicPr>
          <p:cNvPr id="6" name="Picture 5">
            <a:extLst>
              <a:ext uri="{FF2B5EF4-FFF2-40B4-BE49-F238E27FC236}">
                <a16:creationId xmlns:a16="http://schemas.microsoft.com/office/drawing/2014/main" id="{31034C1F-CD4B-BD23-8E26-8B6163400D8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002888" y="3900373"/>
            <a:ext cx="2959161" cy="2517494"/>
          </a:xfrm>
          <a:prstGeom prst="rect">
            <a:avLst/>
          </a:prstGeom>
          <a:noFill/>
          <a:ln>
            <a:noFill/>
          </a:ln>
        </p:spPr>
      </p:pic>
      <p:pic>
        <p:nvPicPr>
          <p:cNvPr id="7" name="Picture 6">
            <a:extLst>
              <a:ext uri="{FF2B5EF4-FFF2-40B4-BE49-F238E27FC236}">
                <a16:creationId xmlns:a16="http://schemas.microsoft.com/office/drawing/2014/main" id="{7BBE427A-B25C-620C-1044-709DD0BDB87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785634" y="781232"/>
            <a:ext cx="3393670" cy="2868459"/>
          </a:xfrm>
          <a:prstGeom prst="rect">
            <a:avLst/>
          </a:prstGeom>
          <a:noFill/>
          <a:ln>
            <a:noFill/>
          </a:ln>
        </p:spPr>
      </p:pic>
      <p:pic>
        <p:nvPicPr>
          <p:cNvPr id="8" name="Picture 7">
            <a:extLst>
              <a:ext uri="{FF2B5EF4-FFF2-40B4-BE49-F238E27FC236}">
                <a16:creationId xmlns:a16="http://schemas.microsoft.com/office/drawing/2014/main" id="{DFD10193-85D7-1638-C08F-15ACE43D902E}"/>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372467" y="4141277"/>
            <a:ext cx="3064837" cy="2517493"/>
          </a:xfrm>
          <a:prstGeom prst="rect">
            <a:avLst/>
          </a:prstGeom>
          <a:noFill/>
          <a:ln>
            <a:noFill/>
          </a:ln>
        </p:spPr>
      </p:pic>
    </p:spTree>
    <p:extLst>
      <p:ext uri="{BB962C8B-B14F-4D97-AF65-F5344CB8AC3E}">
        <p14:creationId xmlns:p14="http://schemas.microsoft.com/office/powerpoint/2010/main" val="17125864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ABAD26-E5F5-5973-A0EC-13F88AF42CE8}"/>
              </a:ext>
            </a:extLst>
          </p:cNvPr>
          <p:cNvSpPr>
            <a:spLocks noGrp="1"/>
          </p:cNvSpPr>
          <p:nvPr>
            <p:ph type="title"/>
          </p:nvPr>
        </p:nvSpPr>
        <p:spPr/>
        <p:txBody>
          <a:bodyPr/>
          <a:lstStyle/>
          <a:p>
            <a:r>
              <a:rPr lang="en-US" b="1" dirty="0"/>
              <a:t>Conclusions</a:t>
            </a:r>
            <a:endParaRPr lang="en-IN" b="1" dirty="0"/>
          </a:p>
        </p:txBody>
      </p:sp>
      <p:sp>
        <p:nvSpPr>
          <p:cNvPr id="3" name="Content Placeholder 2">
            <a:extLst>
              <a:ext uri="{FF2B5EF4-FFF2-40B4-BE49-F238E27FC236}">
                <a16:creationId xmlns:a16="http://schemas.microsoft.com/office/drawing/2014/main" id="{D202E274-7001-7673-4CC1-EFEFA1B6B136}"/>
              </a:ext>
            </a:extLst>
          </p:cNvPr>
          <p:cNvSpPr>
            <a:spLocks noGrp="1"/>
          </p:cNvSpPr>
          <p:nvPr>
            <p:ph idx="1"/>
          </p:nvPr>
        </p:nvSpPr>
        <p:spPr/>
        <p:txBody>
          <a:bodyPr/>
          <a:lstStyle/>
          <a:p>
            <a:r>
              <a:rPr lang="en-US" dirty="0"/>
              <a:t>This project successfully demonstrates the application of Reinforcement Learning to a simple game environment. The Q-Learning agent learned optimal strategies through self-play and reward feedback without human intervention. Visual analysis using heat maps confirmed that the learned strategies align with optimal Tic-Tac-Toe gameplay. The project effectively highlights the fundamentals of Reinforcement Learning and its practical implementation.</a:t>
            </a:r>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B6E19936-D67B-7AB4-82C7-2A58CF2B7F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482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38FD8-60D3-06D0-30DF-812A593B9FA9}"/>
              </a:ext>
            </a:extLst>
          </p:cNvPr>
          <p:cNvSpPr>
            <a:spLocks noGrp="1"/>
          </p:cNvSpPr>
          <p:nvPr>
            <p:ph type="title"/>
          </p:nvPr>
        </p:nvSpPr>
        <p:spPr>
          <a:xfrm>
            <a:off x="838200" y="365126"/>
            <a:ext cx="10515600" cy="1208036"/>
          </a:xfrm>
        </p:spPr>
        <p:txBody>
          <a:bodyPr/>
          <a:lstStyle/>
          <a:p>
            <a:r>
              <a:rPr lang="en-US" b="1" dirty="0"/>
              <a:t>Pending Taks from Project after Review-1</a:t>
            </a:r>
            <a:endParaRPr lang="en-IN" b="1" dirty="0"/>
          </a:p>
        </p:txBody>
      </p:sp>
      <p:graphicFrame>
        <p:nvGraphicFramePr>
          <p:cNvPr id="5" name="Content Placeholder 4">
            <a:extLst>
              <a:ext uri="{FF2B5EF4-FFF2-40B4-BE49-F238E27FC236}">
                <a16:creationId xmlns:a16="http://schemas.microsoft.com/office/drawing/2014/main" id="{F0B00FC5-1909-B99A-AF5F-C9929135F6DE}"/>
              </a:ext>
            </a:extLst>
          </p:cNvPr>
          <p:cNvGraphicFramePr>
            <a:graphicFrameLocks noGrp="1"/>
          </p:cNvGraphicFramePr>
          <p:nvPr>
            <p:ph idx="1"/>
            <p:extLst>
              <p:ext uri="{D42A27DB-BD31-4B8C-83A1-F6EECF244321}">
                <p14:modId xmlns:p14="http://schemas.microsoft.com/office/powerpoint/2010/main" val="3105960577"/>
              </p:ext>
            </p:extLst>
          </p:nvPr>
        </p:nvGraphicFramePr>
        <p:xfrm>
          <a:off x="838200" y="1825625"/>
          <a:ext cx="10515597" cy="11125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832716458"/>
                    </a:ext>
                  </a:extLst>
                </a:gridCol>
                <a:gridCol w="3505199">
                  <a:extLst>
                    <a:ext uri="{9D8B030D-6E8A-4147-A177-3AD203B41FA5}">
                      <a16:colId xmlns:a16="http://schemas.microsoft.com/office/drawing/2014/main" val="3961550264"/>
                    </a:ext>
                  </a:extLst>
                </a:gridCol>
                <a:gridCol w="3505199">
                  <a:extLst>
                    <a:ext uri="{9D8B030D-6E8A-4147-A177-3AD203B41FA5}">
                      <a16:colId xmlns:a16="http://schemas.microsoft.com/office/drawing/2014/main" val="3163944492"/>
                    </a:ext>
                  </a:extLst>
                </a:gridCol>
              </a:tblGrid>
              <a:tr h="370840">
                <a:tc>
                  <a:txBody>
                    <a:bodyPr/>
                    <a:lstStyle/>
                    <a:p>
                      <a:r>
                        <a:rPr lang="en-US" dirty="0"/>
                        <a:t>Sno</a:t>
                      </a:r>
                      <a:endParaRPr lang="en-IN" dirty="0"/>
                    </a:p>
                  </a:txBody>
                  <a:tcPr/>
                </a:tc>
                <a:tc>
                  <a:txBody>
                    <a:bodyPr/>
                    <a:lstStyle/>
                    <a:p>
                      <a:r>
                        <a:rPr lang="en-US" dirty="0"/>
                        <a:t>Task</a:t>
                      </a:r>
                      <a:endParaRPr lang="en-IN" dirty="0"/>
                    </a:p>
                  </a:txBody>
                  <a:tcPr/>
                </a:tc>
                <a:tc>
                  <a:txBody>
                    <a:bodyPr/>
                    <a:lstStyle/>
                    <a:p>
                      <a:r>
                        <a:rPr lang="en-US" dirty="0"/>
                        <a:t>Date of Completion</a:t>
                      </a:r>
                      <a:endParaRPr lang="en-IN" dirty="0"/>
                    </a:p>
                  </a:txBody>
                  <a:tcPr/>
                </a:tc>
                <a:extLst>
                  <a:ext uri="{0D108BD9-81ED-4DB2-BD59-A6C34878D82A}">
                    <a16:rowId xmlns:a16="http://schemas.microsoft.com/office/drawing/2014/main" val="767458971"/>
                  </a:ext>
                </a:extLst>
              </a:tr>
              <a:tr h="370840">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669503354"/>
                  </a:ext>
                </a:extLst>
              </a:tr>
              <a:tr h="370840">
                <a:tc>
                  <a:txBody>
                    <a:bodyPr/>
                    <a:lstStyle/>
                    <a:p>
                      <a:endParaRPr lang="en-IN" dirty="0"/>
                    </a:p>
                  </a:txBody>
                  <a:tcPr/>
                </a:tc>
                <a:tc>
                  <a:txBody>
                    <a:bodyPr/>
                    <a:lstStyle/>
                    <a:p>
                      <a:endParaRPr lang="en-IN"/>
                    </a:p>
                  </a:txBody>
                  <a:tcPr/>
                </a:tc>
                <a:tc>
                  <a:txBody>
                    <a:bodyPr/>
                    <a:lstStyle/>
                    <a:p>
                      <a:endParaRPr lang="en-IN" dirty="0"/>
                    </a:p>
                  </a:txBody>
                  <a:tcPr/>
                </a:tc>
                <a:extLst>
                  <a:ext uri="{0D108BD9-81ED-4DB2-BD59-A6C34878D82A}">
                    <a16:rowId xmlns:a16="http://schemas.microsoft.com/office/drawing/2014/main" val="3812571776"/>
                  </a:ext>
                </a:extLst>
              </a:tr>
            </a:tbl>
          </a:graphicData>
        </a:graphic>
      </p:graphicFrame>
      <p:pic>
        <p:nvPicPr>
          <p:cNvPr id="4" name="Picture 2" descr="MAPS &amp; DIRECTIONS - Best Private University in Telangana &amp; Andhra Pradesh | KLH  Hyderabad">
            <a:extLst>
              <a:ext uri="{FF2B5EF4-FFF2-40B4-BE49-F238E27FC236}">
                <a16:creationId xmlns:a16="http://schemas.microsoft.com/office/drawing/2014/main" id="{B0F6F361-1093-7C95-7229-E3F06B7332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19688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DC548-4214-72AC-5534-A5AEA9E8FEA7}"/>
              </a:ext>
            </a:extLst>
          </p:cNvPr>
          <p:cNvSpPr>
            <a:spLocks noGrp="1"/>
          </p:cNvSpPr>
          <p:nvPr>
            <p:ph type="title"/>
          </p:nvPr>
        </p:nvSpPr>
        <p:spPr/>
        <p:txBody>
          <a:bodyPr/>
          <a:lstStyle/>
          <a:p>
            <a:r>
              <a:rPr lang="en-IN" b="1" dirty="0"/>
              <a:t>Future Work</a:t>
            </a:r>
          </a:p>
        </p:txBody>
      </p:sp>
      <p:sp>
        <p:nvSpPr>
          <p:cNvPr id="3" name="Content Placeholder 2">
            <a:extLst>
              <a:ext uri="{FF2B5EF4-FFF2-40B4-BE49-F238E27FC236}">
                <a16:creationId xmlns:a16="http://schemas.microsoft.com/office/drawing/2014/main" id="{A346B0A4-9BBA-4A44-1B06-01C2F3B0288C}"/>
              </a:ext>
            </a:extLst>
          </p:cNvPr>
          <p:cNvSpPr>
            <a:spLocks noGrp="1"/>
          </p:cNvSpPr>
          <p:nvPr>
            <p:ph idx="1"/>
          </p:nvPr>
        </p:nvSpPr>
        <p:spPr/>
        <p:txBody>
          <a:bodyPr/>
          <a:lstStyle/>
          <a:p>
            <a:r>
              <a:rPr lang="en-IN" dirty="0"/>
              <a:t>Extend to larger grids (4×4 Tic-Tac-Toe)</a:t>
            </a:r>
          </a:p>
          <a:p>
            <a:endParaRPr lang="en-IN" dirty="0"/>
          </a:p>
          <a:p>
            <a:r>
              <a:rPr lang="en-IN" dirty="0"/>
              <a:t>Try neural function approximation (DQN / Deep Q-Learning)</a:t>
            </a:r>
          </a:p>
          <a:p>
            <a:pPr marL="0" indent="0">
              <a:buNone/>
            </a:pPr>
            <a:endParaRPr lang="en-IN" dirty="0"/>
          </a:p>
          <a:p>
            <a:r>
              <a:rPr lang="en-IN" dirty="0"/>
              <a:t>Include other RL algorithms (SARSA / Monte Carlo)</a:t>
            </a:r>
          </a:p>
        </p:txBody>
      </p:sp>
      <p:pic>
        <p:nvPicPr>
          <p:cNvPr id="4" name="Picture 2" descr="MAPS &amp; DIRECTIONS - Best Private University in Telangana &amp; Andhra Pradesh | KLH  Hyderabad">
            <a:extLst>
              <a:ext uri="{FF2B5EF4-FFF2-40B4-BE49-F238E27FC236}">
                <a16:creationId xmlns:a16="http://schemas.microsoft.com/office/drawing/2014/main" id="{D67AAF16-A742-EDBB-2BE5-145B4E1BDD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83649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961E7-EC16-297F-CEBC-EF5A8F4F4425}"/>
              </a:ext>
            </a:extLst>
          </p:cNvPr>
          <p:cNvSpPr>
            <a:spLocks noGrp="1"/>
          </p:cNvSpPr>
          <p:nvPr>
            <p:ph type="title"/>
          </p:nvPr>
        </p:nvSpPr>
        <p:spPr/>
        <p:txBody>
          <a:bodyPr/>
          <a:lstStyle/>
          <a:p>
            <a:r>
              <a:rPr lang="en-IN" dirty="0"/>
              <a:t> </a:t>
            </a:r>
            <a:r>
              <a:rPr lang="en-IN" b="1" dirty="0"/>
              <a:t>References</a:t>
            </a:r>
          </a:p>
        </p:txBody>
      </p:sp>
      <p:sp>
        <p:nvSpPr>
          <p:cNvPr id="3" name="Content Placeholder 2">
            <a:extLst>
              <a:ext uri="{FF2B5EF4-FFF2-40B4-BE49-F238E27FC236}">
                <a16:creationId xmlns:a16="http://schemas.microsoft.com/office/drawing/2014/main" id="{43415EF6-E1B3-632E-2E08-A66763FA29A2}"/>
              </a:ext>
            </a:extLst>
          </p:cNvPr>
          <p:cNvSpPr>
            <a:spLocks noGrp="1"/>
          </p:cNvSpPr>
          <p:nvPr>
            <p:ph idx="1"/>
          </p:nvPr>
        </p:nvSpPr>
        <p:spPr/>
        <p:txBody>
          <a:bodyPr>
            <a:normAutofit lnSpcReduction="10000"/>
          </a:bodyPr>
          <a:lstStyle/>
          <a:p>
            <a:r>
              <a:rPr lang="en-IN" dirty="0" err="1"/>
              <a:t>Hoetal</a:t>
            </a:r>
            <a:r>
              <a:rPr lang="en-IN" dirty="0"/>
              <a:t>. “Reinforcement Learning: Playing Tic-Tac-Toe”, JSR 2023</a:t>
            </a:r>
          </a:p>
          <a:p>
            <a:endParaRPr lang="en-IN" dirty="0"/>
          </a:p>
          <a:p>
            <a:r>
              <a:rPr lang="en-IN" dirty="0"/>
              <a:t> Wang H. et al. “Monte Carlo Q-learning for GGP”, </a:t>
            </a:r>
            <a:r>
              <a:rPr lang="en-IN" dirty="0" err="1"/>
              <a:t>arXiv</a:t>
            </a:r>
            <a:r>
              <a:rPr lang="en-IN" dirty="0"/>
              <a:t> 2018</a:t>
            </a:r>
          </a:p>
          <a:p>
            <a:endParaRPr lang="en-IN" dirty="0"/>
          </a:p>
          <a:p>
            <a:r>
              <a:rPr lang="en-IN" dirty="0"/>
              <a:t>Project GitHub (SARSA/Q-Learning)</a:t>
            </a:r>
          </a:p>
          <a:p>
            <a:endParaRPr lang="en-IN" dirty="0"/>
          </a:p>
          <a:p>
            <a:r>
              <a:rPr lang="en-IN" dirty="0"/>
              <a:t>Q-learning Tic-Tac-Toe implementation</a:t>
            </a:r>
          </a:p>
          <a:p>
            <a:endParaRPr lang="en-IN" dirty="0"/>
          </a:p>
          <a:p>
            <a:r>
              <a:rPr lang="en-IN" dirty="0"/>
              <a:t> Q-learning performance study</a:t>
            </a:r>
          </a:p>
          <a:p>
            <a:pPr marL="0" indent="0">
              <a:buNone/>
            </a:pPr>
            <a:endParaRPr lang="en-IN" dirty="0"/>
          </a:p>
        </p:txBody>
      </p:sp>
      <p:pic>
        <p:nvPicPr>
          <p:cNvPr id="4" name="Picture 2" descr="MAPS &amp; DIRECTIONS - Best Private University in Telangana &amp; Andhra Pradesh | KLH  Hyderabad">
            <a:extLst>
              <a:ext uri="{FF2B5EF4-FFF2-40B4-BE49-F238E27FC236}">
                <a16:creationId xmlns:a16="http://schemas.microsoft.com/office/drawing/2014/main" id="{19CD7F0A-EBBA-E99E-C2AB-AFAEB713A8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83562" y="-416953"/>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5303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3462FBC-3687-87C7-FC7F-277D448EF6BB}"/>
              </a:ext>
            </a:extLst>
          </p:cNvPr>
          <p:cNvSpPr>
            <a:spLocks noGrp="1"/>
          </p:cNvSpPr>
          <p:nvPr>
            <p:ph idx="1"/>
          </p:nvPr>
        </p:nvSpPr>
        <p:spPr/>
        <p:txBody>
          <a:bodyPr>
            <a:normAutofit/>
          </a:bodyPr>
          <a:lstStyle/>
          <a:p>
            <a:pPr marL="0" indent="0" algn="ctr">
              <a:buNone/>
            </a:pPr>
            <a:r>
              <a:rPr lang="en-US" sz="5400" dirty="0"/>
              <a:t>Thank You</a:t>
            </a:r>
            <a:endParaRPr lang="en-IN" sz="5400" dirty="0"/>
          </a:p>
        </p:txBody>
      </p:sp>
      <p:pic>
        <p:nvPicPr>
          <p:cNvPr id="4" name="Picture 2" descr="MAPS &amp; DIRECTIONS - Best Private University in Telangana &amp; Andhra Pradesh | KLH  Hyderabad">
            <a:extLst>
              <a:ext uri="{FF2B5EF4-FFF2-40B4-BE49-F238E27FC236}">
                <a16:creationId xmlns:a16="http://schemas.microsoft.com/office/drawing/2014/main" id="{C6F8CFC0-5307-53E5-1582-E793FE694A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1781" y="2247589"/>
            <a:ext cx="1908438" cy="1418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2112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TotalTime>
  <Words>869</Words>
  <Application>Microsoft Office PowerPoint</Application>
  <PresentationFormat>Widescreen</PresentationFormat>
  <Paragraphs>121</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Calibri Light</vt:lpstr>
      <vt:lpstr>Office Theme</vt:lpstr>
      <vt:lpstr>From Random Moves to Optimal Play: Q-Learning in Tic-Tac-Toe</vt:lpstr>
      <vt:lpstr>Table of Contents</vt:lpstr>
      <vt:lpstr>Introduction</vt:lpstr>
      <vt:lpstr>Problem Statement</vt:lpstr>
      <vt:lpstr>Literature Survey</vt:lpstr>
      <vt:lpstr>PowerPoint Presentation</vt:lpstr>
      <vt:lpstr>Dataset/s Description</vt:lpstr>
      <vt:lpstr>Methodology</vt:lpstr>
      <vt:lpstr>PowerPoint Presentation</vt:lpstr>
      <vt:lpstr>Results and Discussions</vt:lpstr>
      <vt:lpstr>Visualizations</vt:lpstr>
      <vt:lpstr>Visualizations</vt:lpstr>
      <vt:lpstr>Conclusions</vt:lpstr>
      <vt:lpstr>Pending Taks from Project after Review-1</vt:lpstr>
      <vt:lpstr>Future Work</vt:lpstr>
      <vt:lpstr> 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Jyothsna Datti</dc:creator>
  <cp:lastModifiedBy>MOHAMMAD ARSHIYA NAAZ</cp:lastModifiedBy>
  <cp:revision>17</cp:revision>
  <dcterms:created xsi:type="dcterms:W3CDTF">2026-02-05T06:38:40Z</dcterms:created>
  <dcterms:modified xsi:type="dcterms:W3CDTF">2026-02-09T04:27:36Z</dcterms:modified>
</cp:coreProperties>
</file>